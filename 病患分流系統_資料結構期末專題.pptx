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21"/>
  </p:notesMasterIdLst>
  <p:sldIdLst>
    <p:sldId id="256" r:id="rId2"/>
    <p:sldId id="257" r:id="rId3"/>
    <p:sldId id="274" r:id="rId4"/>
    <p:sldId id="271" r:id="rId5"/>
    <p:sldId id="259" r:id="rId6"/>
    <p:sldId id="264" r:id="rId7"/>
    <p:sldId id="258" r:id="rId8"/>
    <p:sldId id="260" r:id="rId9"/>
    <p:sldId id="261" r:id="rId10"/>
    <p:sldId id="262" r:id="rId11"/>
    <p:sldId id="263" r:id="rId12"/>
    <p:sldId id="265" r:id="rId13"/>
    <p:sldId id="266" r:id="rId14"/>
    <p:sldId id="267" r:id="rId15"/>
    <p:sldId id="273" r:id="rId16"/>
    <p:sldId id="268" r:id="rId17"/>
    <p:sldId id="269" r:id="rId18"/>
    <p:sldId id="270" r:id="rId19"/>
    <p:sldId id="272"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C451B"/>
    <a:srgbClr val="F4E9E7"/>
    <a:srgbClr val="E7C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佈景主題樣式 2 - 輔色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31" autoAdjust="0"/>
    <p:restoredTop sz="94660"/>
  </p:normalViewPr>
  <p:slideViewPr>
    <p:cSldViewPr snapToGrid="0">
      <p:cViewPr varScale="1">
        <p:scale>
          <a:sx n="63" d="100"/>
          <a:sy n="63" d="100"/>
        </p:scale>
        <p:origin x="40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98CFD1-541B-4D0F-85B3-2610535DE7E1}" type="datetimeFigureOut">
              <a:rPr lang="zh-TW" altLang="en-US" smtClean="0"/>
              <a:t>2025/1/8</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E6B1DE-48B6-4179-BA5D-ECFEBC7DB204}" type="slidenum">
              <a:rPr lang="zh-TW" altLang="en-US" smtClean="0"/>
              <a:t>‹#›</a:t>
            </a:fld>
            <a:endParaRPr lang="zh-TW" altLang="en-US"/>
          </a:p>
        </p:txBody>
      </p:sp>
    </p:spTree>
    <p:extLst>
      <p:ext uri="{BB962C8B-B14F-4D97-AF65-F5344CB8AC3E}">
        <p14:creationId xmlns:p14="http://schemas.microsoft.com/office/powerpoint/2010/main" val="1118303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15E6B1DE-48B6-4179-BA5D-ECFEBC7DB204}" type="slidenum">
              <a:rPr lang="zh-TW" altLang="en-US" smtClean="0"/>
              <a:t>17</a:t>
            </a:fld>
            <a:endParaRPr lang="zh-TW" altLang="en-US"/>
          </a:p>
        </p:txBody>
      </p:sp>
    </p:spTree>
    <p:extLst>
      <p:ext uri="{BB962C8B-B14F-4D97-AF65-F5344CB8AC3E}">
        <p14:creationId xmlns:p14="http://schemas.microsoft.com/office/powerpoint/2010/main" val="36099979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zh-TW" altLang="en-US"/>
              <a:t>按一下以編輯母片標題樣式</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dirty="0"/>
              <a:t>按一下以編輯母片標題樣式</a:t>
            </a:r>
            <a:endParaRPr lang="en-US" dirty="0"/>
          </a:p>
        </p:txBody>
      </p:sp>
      <p:sp>
        <p:nvSpPr>
          <p:cNvPr id="3" name="Content Placeholder 2"/>
          <p:cNvSpPr>
            <a:spLocks noGrp="1"/>
          </p:cNvSpPr>
          <p:nvPr>
            <p:ph idx="1"/>
          </p:nvPr>
        </p:nvSpPr>
        <p:spPr/>
        <p:txBody>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zh-TW" altLang="en-US"/>
              <a:t>按一下以編輯母片標題樣式</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8E36636D-D922-432D-A958-524484B5923D}" type="datetimeFigureOut">
              <a:rPr lang="en-US" dirty="0"/>
              <a:pPr/>
              <a:t>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dirty="0"/>
              <a:t>按一下以編輯母片標題樣式</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8E36636D-D922-432D-A958-524484B5923D}" type="datetimeFigureOut">
              <a:rPr lang="en-US" dirty="0"/>
              <a:pPr/>
              <a:t>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zh-TW" altLang="en-US"/>
              <a:t>按一下以編輯母片標題樣式</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8E36636D-D922-432D-A958-524484B5923D}" type="datetimeFigureOut">
              <a:rPr lang="en-US" dirty="0"/>
              <a:pPr/>
              <a:t>1/8/2025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8E36636D-D922-432D-A958-524484B5923D}" type="datetimeFigureOut">
              <a:rPr lang="en-US" dirty="0"/>
              <a:pPr/>
              <a:t>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36636D-D922-432D-A958-524484B5923D}" type="datetimeFigureOut">
              <a:rPr lang="en-US" dirty="0"/>
              <a:pPr/>
              <a:t>1/8/2025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zh-TW" altLang="en-US"/>
              <a:t>按一下以編輯母片標題樣式</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8E36636D-D922-432D-A958-524484B5923D}" type="datetimeFigureOut">
              <a:rPr lang="en-US" dirty="0"/>
              <a:pPr/>
              <a:t>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TW" altLang="en-US"/>
              <a:t>按一下圖示以新增圖片</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8E36636D-D922-432D-A958-524484B5923D}" type="datetimeFigureOut">
              <a:rPr lang="en-US" dirty="0"/>
              <a:pPr/>
              <a:t>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全景圖片 (含輔助字幕)">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48A87A34-81AB-432B-8DAE-1953F412C126}" type="datetimeFigureOut">
              <a:rPr lang="en-US" dirty="0"/>
              <a:t>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標題與輔助字幕">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zh-TW" altLang="en-US"/>
              <a:t>按一下以編輯母片標題樣式</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48A87A34-81AB-432B-8DAE-1953F412C126}" type="datetimeFigureOut">
              <a:rPr lang="en-US" dirty="0"/>
              <a:t>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引述 (含輔助字幕)">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zh-TW" altLang="en-US"/>
              <a:t>按一下以編輯母片標題樣式</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48A87A34-81AB-432B-8DAE-1953F412C126}" type="datetimeFigureOut">
              <a:rPr lang="en-US" dirty="0"/>
              <a:t>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zh-TW" altLang="en-US"/>
              <a:t>按一下以編輯母片標題樣式</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48A87A34-81AB-432B-8DAE-1953F412C126}" type="datetimeFigureOut">
              <a:rPr lang="en-US" dirty="0"/>
              <a:t>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欄">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zh-TW" altLang="en-US"/>
              <a:t>按一下以編輯母片標題樣式</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3" name="Date Placeholder 2"/>
          <p:cNvSpPr>
            <a:spLocks noGrp="1"/>
          </p:cNvSpPr>
          <p:nvPr>
            <p:ph type="dt" sz="half" idx="10"/>
          </p:nvPr>
        </p:nvSpPr>
        <p:spPr/>
        <p:txBody>
          <a:bodyPr/>
          <a:lstStyle/>
          <a:p>
            <a:fld id="{48A87A34-81AB-432B-8DAE-1953F412C126}" type="datetimeFigureOut">
              <a:rPr lang="en-US" dirty="0"/>
              <a:t>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圖片欄">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zh-TW" altLang="en-US"/>
              <a:t>按一下以編輯母片標題樣式</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TW" altLang="en-US"/>
              <a:t>按一下圖示以新增圖片</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TW" altLang="en-US"/>
              <a:t>按一下圖示以新增圖片</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TW" altLang="en-US"/>
              <a:t>按一下圖示以新增圖片</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3" name="Date Placeholder 2"/>
          <p:cNvSpPr>
            <a:spLocks noGrp="1"/>
          </p:cNvSpPr>
          <p:nvPr>
            <p:ph type="dt" sz="half" idx="10"/>
          </p:nvPr>
        </p:nvSpPr>
        <p:spPr/>
        <p:txBody>
          <a:bodyPr/>
          <a:lstStyle/>
          <a:p>
            <a:fld id="{48A87A34-81AB-432B-8DAE-1953F412C126}" type="datetimeFigureOut">
              <a:rPr lang="en-US" dirty="0"/>
              <a:t>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ncho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8E36636D-D922-432D-A958-524484B5923D}" type="datetimeFigureOut">
              <a:rPr lang="en-US" dirty="0"/>
              <a:pPr/>
              <a:t>1/8/2025</a:t>
            </a:fld>
            <a:endParaRPr lang="en-US" dirty="0"/>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DF28FB93-0A08-4E7D-8E63-9EFA29F1E093}"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2" r:id="rId10"/>
    <p:sldLayoutId id="2147483853" r:id="rId11"/>
    <p:sldLayoutId id="2147483854" r:id="rId12"/>
    <p:sldLayoutId id="2147483855" r:id="rId13"/>
    <p:sldLayoutId id="2147483858" r:id="rId14"/>
    <p:sldLayoutId id="2147483859" r:id="rId15"/>
    <p:sldLayoutId id="2147483850" r:id="rId16"/>
    <p:sldLayoutId id="2147483851"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53764BE-63E5-C53F-C473-260649781A89}"/>
              </a:ext>
            </a:extLst>
          </p:cNvPr>
          <p:cNvSpPr>
            <a:spLocks noGrp="1"/>
          </p:cNvSpPr>
          <p:nvPr>
            <p:ph type="ctrTitle"/>
          </p:nvPr>
        </p:nvSpPr>
        <p:spPr/>
        <p:txBody>
          <a:bodyPr>
            <a:normAutofit/>
          </a:bodyPr>
          <a:lstStyle/>
          <a:p>
            <a:r>
              <a:rPr lang="zh-TW" altLang="en-US" sz="9600" b="1" dirty="0"/>
              <a:t>病患分流系統</a:t>
            </a:r>
          </a:p>
        </p:txBody>
      </p:sp>
      <p:sp>
        <p:nvSpPr>
          <p:cNvPr id="3" name="副標題 2">
            <a:extLst>
              <a:ext uri="{FF2B5EF4-FFF2-40B4-BE49-F238E27FC236}">
                <a16:creationId xmlns:a16="http://schemas.microsoft.com/office/drawing/2014/main" id="{D2864654-0E29-BA00-CCC6-AEE04F5D2346}"/>
              </a:ext>
            </a:extLst>
          </p:cNvPr>
          <p:cNvSpPr>
            <a:spLocks noGrp="1"/>
          </p:cNvSpPr>
          <p:nvPr>
            <p:ph type="subTitle" idx="1"/>
          </p:nvPr>
        </p:nvSpPr>
        <p:spPr>
          <a:xfrm>
            <a:off x="1381273" y="3442893"/>
            <a:ext cx="8382907" cy="1049867"/>
          </a:xfrm>
        </p:spPr>
        <p:txBody>
          <a:bodyPr>
            <a:normAutofit lnSpcReduction="10000"/>
          </a:bodyPr>
          <a:lstStyle/>
          <a:p>
            <a:pPr algn="r"/>
            <a:r>
              <a:rPr lang="zh-TW" altLang="en-US" sz="2800" dirty="0"/>
              <a:t>資料結構期末專案</a:t>
            </a:r>
            <a:endParaRPr lang="en-US" altLang="zh-TW" sz="2800" dirty="0"/>
          </a:p>
          <a:p>
            <a:pPr algn="r"/>
            <a:r>
              <a:rPr lang="en-US" altLang="zh-TW" sz="2800" dirty="0"/>
              <a:t>4112029012</a:t>
            </a:r>
            <a:r>
              <a:rPr lang="zh-TW" altLang="en-US" sz="2800" dirty="0"/>
              <a:t> 資管二 王昱殊</a:t>
            </a:r>
            <a:endParaRPr lang="en-US" altLang="zh-TW" sz="2800" dirty="0"/>
          </a:p>
        </p:txBody>
      </p:sp>
    </p:spTree>
    <p:extLst>
      <p:ext uri="{BB962C8B-B14F-4D97-AF65-F5344CB8AC3E}">
        <p14:creationId xmlns:p14="http://schemas.microsoft.com/office/powerpoint/2010/main" val="9829107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F5D1B3-81DF-492A-DB70-CE77B12AEAAD}"/>
              </a:ext>
            </a:extLst>
          </p:cNvPr>
          <p:cNvSpPr>
            <a:spLocks noGrp="1"/>
          </p:cNvSpPr>
          <p:nvPr>
            <p:ph type="title"/>
          </p:nvPr>
        </p:nvSpPr>
        <p:spPr>
          <a:xfrm>
            <a:off x="913795" y="349927"/>
            <a:ext cx="10353762" cy="970450"/>
          </a:xfrm>
        </p:spPr>
        <p:txBody>
          <a:bodyPr>
            <a:noAutofit/>
          </a:bodyPr>
          <a:lstStyle/>
          <a:p>
            <a:pPr algn="l"/>
            <a:r>
              <a:rPr lang="zh-TW" altLang="en-US" sz="6000" dirty="0">
                <a:latin typeface="+mj-ea"/>
              </a:rPr>
              <a:t>目錄</a:t>
            </a:r>
            <a:r>
              <a:rPr lang="en-US" altLang="zh-TW" sz="6000" dirty="0">
                <a:latin typeface="+mj-ea"/>
              </a:rPr>
              <a:t>:</a:t>
            </a:r>
            <a:endParaRPr lang="zh-TW" altLang="en-US" sz="6000" dirty="0">
              <a:latin typeface="+mj-ea"/>
            </a:endParaRPr>
          </a:p>
        </p:txBody>
      </p:sp>
      <p:sp>
        <p:nvSpPr>
          <p:cNvPr id="3" name="內容版面配置區 2">
            <a:extLst>
              <a:ext uri="{FF2B5EF4-FFF2-40B4-BE49-F238E27FC236}">
                <a16:creationId xmlns:a16="http://schemas.microsoft.com/office/drawing/2014/main" id="{CB8BA529-503C-7F76-E7A2-B942B404815C}"/>
              </a:ext>
            </a:extLst>
          </p:cNvPr>
          <p:cNvSpPr>
            <a:spLocks noGrp="1"/>
          </p:cNvSpPr>
          <p:nvPr>
            <p:ph idx="1"/>
          </p:nvPr>
        </p:nvSpPr>
        <p:spPr>
          <a:xfrm>
            <a:off x="913795" y="1320377"/>
            <a:ext cx="10353762" cy="5220632"/>
          </a:xfrm>
        </p:spPr>
        <p:txBody>
          <a:bodyPr>
            <a:normAutofit fontScale="92500" lnSpcReduction="20000"/>
          </a:bodyPr>
          <a:lstStyle/>
          <a:p>
            <a:r>
              <a:rPr lang="zh-TW" altLang="en-US" dirty="0"/>
              <a:t>簡介</a:t>
            </a:r>
            <a:r>
              <a:rPr lang="en-US" altLang="zh-TW" dirty="0"/>
              <a:t>-----------------------------------------------------------------------------------------------------------------------p.3</a:t>
            </a:r>
          </a:p>
          <a:p>
            <a:r>
              <a:rPr lang="zh-TW" altLang="en-US" dirty="0"/>
              <a:t>系統概述</a:t>
            </a:r>
            <a:r>
              <a:rPr lang="en-US" altLang="zh-TW" dirty="0"/>
              <a:t>----------------------------------------------------------------------------------------------------------------p.4</a:t>
            </a:r>
          </a:p>
          <a:p>
            <a:r>
              <a:rPr lang="zh-TW" altLang="en-US" dirty="0"/>
              <a:t>功能介紹與操作流程</a:t>
            </a:r>
            <a:endParaRPr lang="en-US" altLang="zh-TW" dirty="0"/>
          </a:p>
          <a:p>
            <a:pPr lvl="1"/>
            <a:r>
              <a:rPr lang="zh-TW" altLang="en-US" dirty="0"/>
              <a:t>登入註冊</a:t>
            </a:r>
            <a:r>
              <a:rPr lang="en-US" altLang="zh-TW" dirty="0"/>
              <a:t>-----------------------------------------------------------------------------------------------------------------------p.5</a:t>
            </a:r>
          </a:p>
          <a:p>
            <a:pPr lvl="1"/>
            <a:r>
              <a:rPr lang="zh-TW" altLang="en-US" dirty="0"/>
              <a:t>匯入檔案</a:t>
            </a:r>
            <a:r>
              <a:rPr lang="en-US" altLang="zh-TW" dirty="0"/>
              <a:t>-----------------------------------------------------------------------------------------------------------------------p.6</a:t>
            </a:r>
          </a:p>
          <a:p>
            <a:pPr lvl="1"/>
            <a:r>
              <a:rPr lang="zh-TW" altLang="en-US" dirty="0"/>
              <a:t>新增</a:t>
            </a:r>
            <a:r>
              <a:rPr lang="en-US" altLang="zh-TW" dirty="0"/>
              <a:t>------------------------------------------------------------------------------------------------------------------------------p.7</a:t>
            </a:r>
          </a:p>
          <a:p>
            <a:pPr lvl="1"/>
            <a:r>
              <a:rPr lang="zh-TW" altLang="en-US" dirty="0"/>
              <a:t>修改</a:t>
            </a:r>
            <a:r>
              <a:rPr lang="en-US" altLang="zh-TW" dirty="0"/>
              <a:t>------------------------------------------------------------------------------------------------------------------------------p.8</a:t>
            </a:r>
          </a:p>
          <a:p>
            <a:pPr lvl="1"/>
            <a:r>
              <a:rPr lang="zh-TW" altLang="en-US" dirty="0"/>
              <a:t>刪除</a:t>
            </a:r>
            <a:r>
              <a:rPr lang="en-US" altLang="zh-TW" dirty="0"/>
              <a:t>------------------------------------------------------------------------------------------------------------------------------p.9</a:t>
            </a:r>
          </a:p>
          <a:p>
            <a:pPr lvl="1"/>
            <a:r>
              <a:rPr lang="zh-TW" altLang="en-US" dirty="0"/>
              <a:t>查詢</a:t>
            </a:r>
            <a:r>
              <a:rPr lang="en-US" altLang="zh-TW" dirty="0"/>
              <a:t>------------------------------------------------------------------------------------------------------------------------------p.10</a:t>
            </a:r>
          </a:p>
          <a:p>
            <a:pPr lvl="1"/>
            <a:r>
              <a:rPr lang="zh-TW" altLang="en-US" dirty="0"/>
              <a:t>檢視</a:t>
            </a:r>
            <a:r>
              <a:rPr lang="en-US" altLang="zh-TW" dirty="0"/>
              <a:t>------------------------------------------------------------------------------------------------------------------------------p.11</a:t>
            </a:r>
          </a:p>
          <a:p>
            <a:pPr lvl="1"/>
            <a:r>
              <a:rPr lang="zh-TW" altLang="en-US" dirty="0"/>
              <a:t>資料儲存與匯出</a:t>
            </a:r>
            <a:r>
              <a:rPr lang="en-US" altLang="zh-TW" dirty="0"/>
              <a:t>-------------------------------------------------------------------------------------------------------------p.12</a:t>
            </a:r>
          </a:p>
          <a:p>
            <a:r>
              <a:rPr lang="zh-TW" altLang="en-US" dirty="0"/>
              <a:t>技術分析</a:t>
            </a:r>
            <a:endParaRPr lang="en-US" altLang="zh-TW" dirty="0"/>
          </a:p>
          <a:p>
            <a:pPr lvl="1"/>
            <a:r>
              <a:rPr lang="zh-TW" altLang="en-US" dirty="0"/>
              <a:t>列表</a:t>
            </a:r>
            <a:r>
              <a:rPr lang="en-US" altLang="zh-TW" dirty="0"/>
              <a:t>------------------------------------------------------------------------------------------------------------------------------p.13</a:t>
            </a:r>
          </a:p>
          <a:p>
            <a:pPr lvl="1"/>
            <a:r>
              <a:rPr lang="zh-TW" altLang="en-US" dirty="0"/>
              <a:t>相關圖片</a:t>
            </a:r>
            <a:r>
              <a:rPr lang="en-US" altLang="zh-TW" dirty="0"/>
              <a:t>-----------------------------------------------------------------------------------------------------------------------p.16</a:t>
            </a:r>
          </a:p>
          <a:p>
            <a:r>
              <a:rPr lang="zh-TW" altLang="en-US" dirty="0"/>
              <a:t>各檔案的功能</a:t>
            </a:r>
            <a:r>
              <a:rPr lang="en-US" altLang="zh-TW" dirty="0"/>
              <a:t>---------------------------------------------------------------------------------------------------------p.19</a:t>
            </a:r>
          </a:p>
        </p:txBody>
      </p:sp>
    </p:spTree>
    <p:extLst>
      <p:ext uri="{BB962C8B-B14F-4D97-AF65-F5344CB8AC3E}">
        <p14:creationId xmlns:p14="http://schemas.microsoft.com/office/powerpoint/2010/main" val="2625933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4FDAEE9-705C-D544-8284-8F10B1BADCA9}"/>
              </a:ext>
            </a:extLst>
          </p:cNvPr>
          <p:cNvSpPr>
            <a:spLocks noGrp="1"/>
          </p:cNvSpPr>
          <p:nvPr>
            <p:ph type="title"/>
          </p:nvPr>
        </p:nvSpPr>
        <p:spPr/>
        <p:txBody>
          <a:bodyPr>
            <a:noAutofit/>
          </a:bodyPr>
          <a:lstStyle/>
          <a:p>
            <a:pPr algn="l"/>
            <a:r>
              <a:rPr lang="zh-TW" altLang="en-US" sz="6000" dirty="0"/>
              <a:t>簡介</a:t>
            </a:r>
          </a:p>
        </p:txBody>
      </p:sp>
      <p:sp>
        <p:nvSpPr>
          <p:cNvPr id="3" name="內容版面配置區 2">
            <a:extLst>
              <a:ext uri="{FF2B5EF4-FFF2-40B4-BE49-F238E27FC236}">
                <a16:creationId xmlns:a16="http://schemas.microsoft.com/office/drawing/2014/main" id="{2FADF9C4-26D5-AF1E-8008-48D0D6741D19}"/>
              </a:ext>
            </a:extLst>
          </p:cNvPr>
          <p:cNvSpPr>
            <a:spLocks noGrp="1"/>
          </p:cNvSpPr>
          <p:nvPr>
            <p:ph idx="1"/>
          </p:nvPr>
        </p:nvSpPr>
        <p:spPr/>
        <p:txBody>
          <a:bodyPr/>
          <a:lstStyle/>
          <a:p>
            <a:r>
              <a:rPr lang="zh-TW" altLang="en-US" dirty="0"/>
              <a:t>使用者使用時須先進行登入</a:t>
            </a:r>
            <a:endParaRPr lang="en-US" altLang="zh-TW" dirty="0"/>
          </a:p>
          <a:p>
            <a:r>
              <a:rPr lang="zh-TW" altLang="en-US" dirty="0"/>
              <a:t>本系統提供使用者設定緊急程度的總級數</a:t>
            </a:r>
            <a:endParaRPr lang="en-US" altLang="zh-TW" dirty="0"/>
          </a:p>
          <a:p>
            <a:r>
              <a:rPr lang="zh-TW" altLang="en-US" dirty="0"/>
              <a:t>每個病患都會有姓名、年齡、性別與緊急程度四個資料</a:t>
            </a:r>
            <a:endParaRPr lang="en-US" altLang="zh-TW" dirty="0"/>
          </a:p>
          <a:p>
            <a:r>
              <a:rPr lang="zh-TW" altLang="en-US" dirty="0"/>
              <a:t>每個病患會根據緊急程度存放於節點中</a:t>
            </a:r>
            <a:endParaRPr lang="en-US" altLang="zh-TW" dirty="0"/>
          </a:p>
          <a:p>
            <a:r>
              <a:rPr lang="zh-TW" altLang="en-US" dirty="0"/>
              <a:t>當所有資料編輯完後，給予該檔案一個編號，並以此為依據存檔</a:t>
            </a:r>
            <a:endParaRPr lang="en-US" altLang="zh-TW" dirty="0"/>
          </a:p>
          <a:p>
            <a:r>
              <a:rPr lang="zh-TW" altLang="en-US" dirty="0"/>
              <a:t>每個檔案皆會有其編號，所有的編號會另外儲存管理</a:t>
            </a:r>
            <a:endParaRPr lang="en-US" altLang="zh-TW" dirty="0"/>
          </a:p>
          <a:p>
            <a:endParaRPr lang="en-US" altLang="zh-TW" dirty="0"/>
          </a:p>
          <a:p>
            <a:endParaRPr lang="zh-TW" altLang="en-US" dirty="0"/>
          </a:p>
        </p:txBody>
      </p:sp>
    </p:spTree>
    <p:extLst>
      <p:ext uri="{BB962C8B-B14F-4D97-AF65-F5344CB8AC3E}">
        <p14:creationId xmlns:p14="http://schemas.microsoft.com/office/powerpoint/2010/main" val="32249855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3D1942-CF97-F37D-C30A-7792834F7555}"/>
              </a:ext>
            </a:extLst>
          </p:cNvPr>
          <p:cNvSpPr>
            <a:spLocks noGrp="1"/>
          </p:cNvSpPr>
          <p:nvPr>
            <p:ph type="title"/>
          </p:nvPr>
        </p:nvSpPr>
        <p:spPr/>
        <p:txBody>
          <a:bodyPr>
            <a:noAutofit/>
          </a:bodyPr>
          <a:lstStyle/>
          <a:p>
            <a:pPr algn="l"/>
            <a:r>
              <a:rPr lang="zh-TW" altLang="en-US" sz="6000" dirty="0"/>
              <a:t>系統概述</a:t>
            </a:r>
          </a:p>
        </p:txBody>
      </p:sp>
      <p:sp>
        <p:nvSpPr>
          <p:cNvPr id="3" name="內容版面配置區 2">
            <a:extLst>
              <a:ext uri="{FF2B5EF4-FFF2-40B4-BE49-F238E27FC236}">
                <a16:creationId xmlns:a16="http://schemas.microsoft.com/office/drawing/2014/main" id="{8D4CFA39-C94B-69BD-39EC-5C4EE7D86F3B}"/>
              </a:ext>
            </a:extLst>
          </p:cNvPr>
          <p:cNvSpPr>
            <a:spLocks noGrp="1"/>
          </p:cNvSpPr>
          <p:nvPr>
            <p:ph idx="1"/>
          </p:nvPr>
        </p:nvSpPr>
        <p:spPr>
          <a:xfrm>
            <a:off x="913795" y="1580050"/>
            <a:ext cx="10353762" cy="4058751"/>
          </a:xfrm>
        </p:spPr>
        <p:txBody>
          <a:bodyPr>
            <a:noAutofit/>
          </a:bodyPr>
          <a:lstStyle/>
          <a:p>
            <a:r>
              <a:rPr lang="zh-TW" altLang="en-US" b="1" dirty="0"/>
              <a:t>本系統可製造不只一顆患者的資料樹，而每份患者文件存放一顆樹，也因此在一開始使用時使用者必須選擇要創建新的資料樹還是從原先的資料樹中擇一取出資料並編輯</a:t>
            </a:r>
            <a:endParaRPr lang="en-US" altLang="zh-TW" b="1" dirty="0"/>
          </a:p>
          <a:p>
            <a:r>
              <a:rPr lang="zh-TW" altLang="en-US" dirty="0"/>
              <a:t>提供帳密管理使用者確保安全性，執行過程將帳密存於</a:t>
            </a:r>
            <a:r>
              <a:rPr lang="zh-TW" altLang="en-US" b="1" dirty="0"/>
              <a:t>二維陣列</a:t>
            </a:r>
            <a:endParaRPr lang="en-US" altLang="zh-TW" b="1" dirty="0"/>
          </a:p>
          <a:p>
            <a:r>
              <a:rPr lang="zh-TW" altLang="en-US" dirty="0"/>
              <a:t>針對不同區域、用途的病患資料樹文件，能夠使用不同編號區隔，而所有資料樹文件的編號將會存放於</a:t>
            </a:r>
            <a:r>
              <a:rPr lang="en-US" altLang="zh-TW" b="1" dirty="0"/>
              <a:t>2-3</a:t>
            </a:r>
            <a:r>
              <a:rPr lang="zh-TW" altLang="en-US" b="1" dirty="0"/>
              <a:t>樹</a:t>
            </a:r>
            <a:r>
              <a:rPr lang="zh-TW" altLang="en-US" dirty="0"/>
              <a:t>中，並於結束時統一存檔管理</a:t>
            </a:r>
            <a:endParaRPr lang="en-US" altLang="zh-TW" dirty="0"/>
          </a:p>
          <a:p>
            <a:r>
              <a:rPr lang="zh-TW" altLang="en-US" dirty="0"/>
              <a:t>不論是新檔案還是舊檔案，都會有一棵</a:t>
            </a:r>
            <a:r>
              <a:rPr lang="zh-TW" altLang="en-US" b="1" dirty="0"/>
              <a:t>標準二元樹</a:t>
            </a:r>
            <a:r>
              <a:rPr lang="zh-TW" altLang="en-US" dirty="0"/>
              <a:t>來儲存個檔案中各層級的資料</a:t>
            </a:r>
            <a:endParaRPr lang="en-US" altLang="zh-TW" dirty="0"/>
          </a:p>
          <a:p>
            <a:r>
              <a:rPr lang="zh-TW" altLang="en-US" dirty="0"/>
              <a:t>各層級的資料中有</a:t>
            </a:r>
            <a:r>
              <a:rPr lang="zh-TW" altLang="en-US" b="1" dirty="0"/>
              <a:t>鏈結串列</a:t>
            </a:r>
            <a:r>
              <a:rPr lang="zh-TW" altLang="en-US" dirty="0"/>
              <a:t>將每個病患連起來</a:t>
            </a:r>
            <a:endParaRPr lang="en-US" altLang="zh-TW" dirty="0"/>
          </a:p>
          <a:p>
            <a:r>
              <a:rPr lang="zh-TW" altLang="en-US" dirty="0"/>
              <a:t>檢視單一檔案所有病患資料時，先將資料轉換成</a:t>
            </a:r>
            <a:r>
              <a:rPr lang="zh-TW" altLang="en-US" b="1" dirty="0"/>
              <a:t>三維陣列</a:t>
            </a:r>
            <a:r>
              <a:rPr lang="zh-TW" altLang="en-US" dirty="0"/>
              <a:t>，再透過</a:t>
            </a:r>
            <a:r>
              <a:rPr lang="en-US" altLang="zh-TW" b="1" dirty="0" err="1"/>
              <a:t>heapq</a:t>
            </a:r>
            <a:r>
              <a:rPr lang="zh-TW" altLang="en-US" dirty="0"/>
              <a:t>從層級小到大依序輸出</a:t>
            </a:r>
            <a:endParaRPr lang="en-US" altLang="zh-TW" dirty="0"/>
          </a:p>
          <a:p>
            <a:r>
              <a:rPr lang="zh-TW" altLang="en-US" dirty="0"/>
              <a:t>存檔時將帳密資料、編號列表、病患資料表用</a:t>
            </a:r>
            <a:r>
              <a:rPr lang="zh-TW" altLang="en-US" b="1" dirty="0"/>
              <a:t>記事本儲存</a:t>
            </a:r>
            <a:r>
              <a:rPr lang="zh-TW" altLang="en-US" dirty="0"/>
              <a:t>以利之後使用</a:t>
            </a:r>
            <a:endParaRPr lang="en-US" altLang="zh-TW" dirty="0"/>
          </a:p>
          <a:p>
            <a:r>
              <a:rPr lang="zh-TW" altLang="en-US" dirty="0"/>
              <a:t>部分方法使用</a:t>
            </a:r>
            <a:r>
              <a:rPr lang="zh-TW" altLang="en-US" b="1" dirty="0"/>
              <a:t>視窗執行</a:t>
            </a:r>
            <a:endParaRPr lang="en-US" altLang="zh-TW" b="1" dirty="0"/>
          </a:p>
          <a:p>
            <a:r>
              <a:rPr lang="zh-TW" altLang="en-US" dirty="0"/>
              <a:t>部分方法使用</a:t>
            </a:r>
            <a:r>
              <a:rPr lang="zh-TW" altLang="en-US" b="1" dirty="0"/>
              <a:t>堆疊、遞迴結構</a:t>
            </a:r>
            <a:endParaRPr lang="en-US" altLang="zh-TW" b="1" dirty="0"/>
          </a:p>
        </p:txBody>
      </p:sp>
    </p:spTree>
    <p:extLst>
      <p:ext uri="{BB962C8B-B14F-4D97-AF65-F5344CB8AC3E}">
        <p14:creationId xmlns:p14="http://schemas.microsoft.com/office/powerpoint/2010/main" val="2794562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346FBAE-1A17-10E4-1F8E-031019CA512C}"/>
              </a:ext>
            </a:extLst>
          </p:cNvPr>
          <p:cNvSpPr>
            <a:spLocks noGrp="1"/>
          </p:cNvSpPr>
          <p:nvPr>
            <p:ph type="title"/>
          </p:nvPr>
        </p:nvSpPr>
        <p:spPr/>
        <p:txBody>
          <a:bodyPr>
            <a:noAutofit/>
          </a:bodyPr>
          <a:lstStyle/>
          <a:p>
            <a:pPr algn="l"/>
            <a:r>
              <a:rPr lang="zh-TW" altLang="en-US" sz="6000" dirty="0"/>
              <a:t>登入與註冊</a:t>
            </a:r>
          </a:p>
        </p:txBody>
      </p:sp>
      <p:sp>
        <p:nvSpPr>
          <p:cNvPr id="3" name="內容版面配置區 2">
            <a:extLst>
              <a:ext uri="{FF2B5EF4-FFF2-40B4-BE49-F238E27FC236}">
                <a16:creationId xmlns:a16="http://schemas.microsoft.com/office/drawing/2014/main" id="{A8EEF14C-859B-F652-63AD-2D06F913BEF1}"/>
              </a:ext>
            </a:extLst>
          </p:cNvPr>
          <p:cNvSpPr>
            <a:spLocks noGrp="1"/>
          </p:cNvSpPr>
          <p:nvPr>
            <p:ph idx="1"/>
          </p:nvPr>
        </p:nvSpPr>
        <p:spPr/>
        <p:txBody>
          <a:bodyPr/>
          <a:lstStyle/>
          <a:p>
            <a:r>
              <a:rPr lang="zh-TW" altLang="en-US" dirty="0"/>
              <a:t>起始畫面使用者須先登入系統，若無帳號需先註冊</a:t>
            </a:r>
          </a:p>
        </p:txBody>
      </p:sp>
      <p:pic>
        <p:nvPicPr>
          <p:cNvPr id="9" name="圖片 8">
            <a:extLst>
              <a:ext uri="{FF2B5EF4-FFF2-40B4-BE49-F238E27FC236}">
                <a16:creationId xmlns:a16="http://schemas.microsoft.com/office/drawing/2014/main" id="{2750E3CD-497C-E026-05F9-838BD51C5499}"/>
              </a:ext>
            </a:extLst>
          </p:cNvPr>
          <p:cNvPicPr>
            <a:picLocks noChangeAspect="1"/>
          </p:cNvPicPr>
          <p:nvPr/>
        </p:nvPicPr>
        <p:blipFill>
          <a:blip r:embed="rId2"/>
          <a:stretch>
            <a:fillRect/>
          </a:stretch>
        </p:blipFill>
        <p:spPr>
          <a:xfrm>
            <a:off x="4901021" y="5324313"/>
            <a:ext cx="3787520" cy="724247"/>
          </a:xfrm>
          <a:prstGeom prst="rect">
            <a:avLst/>
          </a:prstGeom>
        </p:spPr>
      </p:pic>
      <p:pic>
        <p:nvPicPr>
          <p:cNvPr id="11" name="圖片 10">
            <a:extLst>
              <a:ext uri="{FF2B5EF4-FFF2-40B4-BE49-F238E27FC236}">
                <a16:creationId xmlns:a16="http://schemas.microsoft.com/office/drawing/2014/main" id="{D7A6005E-EAD1-9B3F-9FF6-157A35D27DCA}"/>
              </a:ext>
            </a:extLst>
          </p:cNvPr>
          <p:cNvPicPr>
            <a:picLocks noChangeAspect="1"/>
          </p:cNvPicPr>
          <p:nvPr/>
        </p:nvPicPr>
        <p:blipFill>
          <a:blip r:embed="rId3"/>
          <a:stretch>
            <a:fillRect/>
          </a:stretch>
        </p:blipFill>
        <p:spPr>
          <a:xfrm>
            <a:off x="4677826" y="2285228"/>
            <a:ext cx="3886520" cy="2991251"/>
          </a:xfrm>
          <a:prstGeom prst="rect">
            <a:avLst/>
          </a:prstGeom>
        </p:spPr>
      </p:pic>
      <p:pic>
        <p:nvPicPr>
          <p:cNvPr id="13" name="圖片 12">
            <a:extLst>
              <a:ext uri="{FF2B5EF4-FFF2-40B4-BE49-F238E27FC236}">
                <a16:creationId xmlns:a16="http://schemas.microsoft.com/office/drawing/2014/main" id="{BD751F01-CC72-61B8-85AD-D11DDA7DF26A}"/>
              </a:ext>
            </a:extLst>
          </p:cNvPr>
          <p:cNvPicPr>
            <a:picLocks noChangeAspect="1"/>
          </p:cNvPicPr>
          <p:nvPr/>
        </p:nvPicPr>
        <p:blipFill>
          <a:blip r:embed="rId4"/>
          <a:stretch>
            <a:fillRect/>
          </a:stretch>
        </p:blipFill>
        <p:spPr>
          <a:xfrm>
            <a:off x="865026" y="2304293"/>
            <a:ext cx="3787519" cy="3081420"/>
          </a:xfrm>
          <a:prstGeom prst="rect">
            <a:avLst/>
          </a:prstGeom>
        </p:spPr>
      </p:pic>
      <p:pic>
        <p:nvPicPr>
          <p:cNvPr id="15" name="圖片 14">
            <a:extLst>
              <a:ext uri="{FF2B5EF4-FFF2-40B4-BE49-F238E27FC236}">
                <a16:creationId xmlns:a16="http://schemas.microsoft.com/office/drawing/2014/main" id="{A5EDFD11-DFB4-2505-2D36-323F85981DC3}"/>
              </a:ext>
            </a:extLst>
          </p:cNvPr>
          <p:cNvPicPr>
            <a:picLocks noChangeAspect="1"/>
          </p:cNvPicPr>
          <p:nvPr/>
        </p:nvPicPr>
        <p:blipFill>
          <a:blip r:embed="rId5"/>
          <a:stretch>
            <a:fillRect/>
          </a:stretch>
        </p:blipFill>
        <p:spPr>
          <a:xfrm>
            <a:off x="815361" y="5350792"/>
            <a:ext cx="4061276" cy="671287"/>
          </a:xfrm>
          <a:prstGeom prst="rect">
            <a:avLst/>
          </a:prstGeom>
        </p:spPr>
      </p:pic>
    </p:spTree>
    <p:extLst>
      <p:ext uri="{BB962C8B-B14F-4D97-AF65-F5344CB8AC3E}">
        <p14:creationId xmlns:p14="http://schemas.microsoft.com/office/powerpoint/2010/main" val="899477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6BC201E-6D68-35C4-8A75-E17C57140787}"/>
              </a:ext>
            </a:extLst>
          </p:cNvPr>
          <p:cNvSpPr>
            <a:spLocks noGrp="1"/>
          </p:cNvSpPr>
          <p:nvPr>
            <p:ph type="title"/>
          </p:nvPr>
        </p:nvSpPr>
        <p:spPr/>
        <p:txBody>
          <a:bodyPr>
            <a:noAutofit/>
          </a:bodyPr>
          <a:lstStyle/>
          <a:p>
            <a:pPr algn="l"/>
            <a:r>
              <a:rPr lang="zh-TW" altLang="en-US" sz="6000" dirty="0"/>
              <a:t>匯入檔案</a:t>
            </a:r>
          </a:p>
        </p:txBody>
      </p:sp>
      <p:sp>
        <p:nvSpPr>
          <p:cNvPr id="3" name="內容版面配置區 2">
            <a:extLst>
              <a:ext uri="{FF2B5EF4-FFF2-40B4-BE49-F238E27FC236}">
                <a16:creationId xmlns:a16="http://schemas.microsoft.com/office/drawing/2014/main" id="{6E3B2E42-885F-A5EE-5FF8-90E0462D48CE}"/>
              </a:ext>
            </a:extLst>
          </p:cNvPr>
          <p:cNvSpPr>
            <a:spLocks noGrp="1"/>
          </p:cNvSpPr>
          <p:nvPr>
            <p:ph idx="1"/>
          </p:nvPr>
        </p:nvSpPr>
        <p:spPr/>
        <p:txBody>
          <a:bodyPr/>
          <a:lstStyle/>
          <a:p>
            <a:r>
              <a:rPr lang="zh-TW" altLang="en-US" dirty="0"/>
              <a:t>使用者在最初操作時可以選擇開啟之前的患者資料，系統會直接讀取檔案內的層級深度，並以此為基準建立</a:t>
            </a:r>
            <a:r>
              <a:rPr lang="zh-TW" altLang="en-US" b="1" dirty="0"/>
              <a:t>標準二元樹</a:t>
            </a:r>
            <a:endParaRPr lang="en-US" altLang="zh-TW" b="1" dirty="0"/>
          </a:p>
          <a:p>
            <a:r>
              <a:rPr lang="zh-TW" altLang="en-US" dirty="0"/>
              <a:t>若沒有匯入新檔案，則可以手動輸入想要的層級樹，系統會做出相應的</a:t>
            </a:r>
            <a:r>
              <a:rPr lang="zh-TW" altLang="en-US" b="1" dirty="0"/>
              <a:t>標準二元樹</a:t>
            </a:r>
          </a:p>
        </p:txBody>
      </p:sp>
      <p:pic>
        <p:nvPicPr>
          <p:cNvPr id="9" name="圖片 8">
            <a:extLst>
              <a:ext uri="{FF2B5EF4-FFF2-40B4-BE49-F238E27FC236}">
                <a16:creationId xmlns:a16="http://schemas.microsoft.com/office/drawing/2014/main" id="{72871895-A79F-6F5E-D27F-174D7474B7E0}"/>
              </a:ext>
            </a:extLst>
          </p:cNvPr>
          <p:cNvPicPr>
            <a:picLocks noChangeAspect="1"/>
          </p:cNvPicPr>
          <p:nvPr/>
        </p:nvPicPr>
        <p:blipFill>
          <a:blip r:embed="rId2"/>
          <a:stretch>
            <a:fillRect/>
          </a:stretch>
        </p:blipFill>
        <p:spPr>
          <a:xfrm>
            <a:off x="4992646" y="3237219"/>
            <a:ext cx="2217357" cy="2553320"/>
          </a:xfrm>
          <a:prstGeom prst="rect">
            <a:avLst/>
          </a:prstGeom>
        </p:spPr>
      </p:pic>
      <p:pic>
        <p:nvPicPr>
          <p:cNvPr id="11" name="圖片 10">
            <a:extLst>
              <a:ext uri="{FF2B5EF4-FFF2-40B4-BE49-F238E27FC236}">
                <a16:creationId xmlns:a16="http://schemas.microsoft.com/office/drawing/2014/main" id="{3FD43292-2C33-D394-0441-61C4EEA3D417}"/>
              </a:ext>
            </a:extLst>
          </p:cNvPr>
          <p:cNvPicPr>
            <a:picLocks noChangeAspect="1"/>
          </p:cNvPicPr>
          <p:nvPr/>
        </p:nvPicPr>
        <p:blipFill>
          <a:blip r:embed="rId3"/>
          <a:stretch>
            <a:fillRect/>
          </a:stretch>
        </p:blipFill>
        <p:spPr>
          <a:xfrm>
            <a:off x="7973567" y="3173740"/>
            <a:ext cx="2071097" cy="2617460"/>
          </a:xfrm>
          <a:prstGeom prst="rect">
            <a:avLst/>
          </a:prstGeom>
        </p:spPr>
      </p:pic>
      <p:pic>
        <p:nvPicPr>
          <p:cNvPr id="6" name="圖片 5">
            <a:extLst>
              <a:ext uri="{FF2B5EF4-FFF2-40B4-BE49-F238E27FC236}">
                <a16:creationId xmlns:a16="http://schemas.microsoft.com/office/drawing/2014/main" id="{CB3E7F9E-9383-D00C-403F-922E6F63B160}"/>
              </a:ext>
            </a:extLst>
          </p:cNvPr>
          <p:cNvPicPr>
            <a:picLocks noChangeAspect="1"/>
          </p:cNvPicPr>
          <p:nvPr/>
        </p:nvPicPr>
        <p:blipFill>
          <a:blip r:embed="rId4"/>
          <a:stretch>
            <a:fillRect/>
          </a:stretch>
        </p:blipFill>
        <p:spPr>
          <a:xfrm>
            <a:off x="1016203" y="3429000"/>
            <a:ext cx="3212879" cy="1974178"/>
          </a:xfrm>
          <a:prstGeom prst="rect">
            <a:avLst/>
          </a:prstGeom>
        </p:spPr>
      </p:pic>
    </p:spTree>
    <p:extLst>
      <p:ext uri="{BB962C8B-B14F-4D97-AF65-F5344CB8AC3E}">
        <p14:creationId xmlns:p14="http://schemas.microsoft.com/office/powerpoint/2010/main" val="2268010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CA5DA18-0F40-DFF0-82BB-E94FB8DB42FC}"/>
              </a:ext>
            </a:extLst>
          </p:cNvPr>
          <p:cNvSpPr>
            <a:spLocks noGrp="1"/>
          </p:cNvSpPr>
          <p:nvPr>
            <p:ph type="title"/>
          </p:nvPr>
        </p:nvSpPr>
        <p:spPr/>
        <p:txBody>
          <a:bodyPr>
            <a:noAutofit/>
          </a:bodyPr>
          <a:lstStyle/>
          <a:p>
            <a:pPr algn="l"/>
            <a:r>
              <a:rPr lang="zh-TW" altLang="en-US" sz="6000" dirty="0">
                <a:latin typeface="+mj-ea"/>
              </a:rPr>
              <a:t>新增</a:t>
            </a:r>
          </a:p>
        </p:txBody>
      </p:sp>
      <p:sp>
        <p:nvSpPr>
          <p:cNvPr id="3" name="內容版面配置區 2">
            <a:extLst>
              <a:ext uri="{FF2B5EF4-FFF2-40B4-BE49-F238E27FC236}">
                <a16:creationId xmlns:a16="http://schemas.microsoft.com/office/drawing/2014/main" id="{FED364EA-4DE1-C95B-6FC5-1277407C76EF}"/>
              </a:ext>
            </a:extLst>
          </p:cNvPr>
          <p:cNvSpPr>
            <a:spLocks noGrp="1"/>
          </p:cNvSpPr>
          <p:nvPr>
            <p:ph idx="1"/>
          </p:nvPr>
        </p:nvSpPr>
        <p:spPr>
          <a:xfrm>
            <a:off x="919119" y="1744641"/>
            <a:ext cx="10353762" cy="4058751"/>
          </a:xfrm>
        </p:spPr>
        <p:txBody>
          <a:bodyPr/>
          <a:lstStyle/>
          <a:p>
            <a:r>
              <a:rPr lang="zh-TW" altLang="en-US" dirty="0"/>
              <a:t>將患者資料透過視窗輸入，並判斷此資料內容是否合理，再進行儲存</a:t>
            </a:r>
          </a:p>
        </p:txBody>
      </p:sp>
      <p:pic>
        <p:nvPicPr>
          <p:cNvPr id="7" name="圖片 6">
            <a:extLst>
              <a:ext uri="{FF2B5EF4-FFF2-40B4-BE49-F238E27FC236}">
                <a16:creationId xmlns:a16="http://schemas.microsoft.com/office/drawing/2014/main" id="{EA732CF6-D219-3723-E83B-6F48E32555BB}"/>
              </a:ext>
            </a:extLst>
          </p:cNvPr>
          <p:cNvPicPr>
            <a:picLocks noChangeAspect="1"/>
          </p:cNvPicPr>
          <p:nvPr/>
        </p:nvPicPr>
        <p:blipFill>
          <a:blip r:embed="rId2"/>
          <a:stretch>
            <a:fillRect/>
          </a:stretch>
        </p:blipFill>
        <p:spPr>
          <a:xfrm>
            <a:off x="5294512" y="2447600"/>
            <a:ext cx="2263209" cy="2497334"/>
          </a:xfrm>
          <a:prstGeom prst="rect">
            <a:avLst/>
          </a:prstGeom>
        </p:spPr>
      </p:pic>
      <p:pic>
        <p:nvPicPr>
          <p:cNvPr id="11" name="圖片 10">
            <a:extLst>
              <a:ext uri="{FF2B5EF4-FFF2-40B4-BE49-F238E27FC236}">
                <a16:creationId xmlns:a16="http://schemas.microsoft.com/office/drawing/2014/main" id="{87E552A3-4D71-A047-B487-A5F9F869E860}"/>
              </a:ext>
            </a:extLst>
          </p:cNvPr>
          <p:cNvPicPr>
            <a:picLocks noChangeAspect="1"/>
          </p:cNvPicPr>
          <p:nvPr/>
        </p:nvPicPr>
        <p:blipFill>
          <a:blip r:embed="rId3"/>
          <a:stretch>
            <a:fillRect/>
          </a:stretch>
        </p:blipFill>
        <p:spPr>
          <a:xfrm>
            <a:off x="5272980" y="5046401"/>
            <a:ext cx="2284741" cy="799659"/>
          </a:xfrm>
          <a:prstGeom prst="rect">
            <a:avLst/>
          </a:prstGeom>
        </p:spPr>
      </p:pic>
      <p:pic>
        <p:nvPicPr>
          <p:cNvPr id="6" name="圖片 5">
            <a:extLst>
              <a:ext uri="{FF2B5EF4-FFF2-40B4-BE49-F238E27FC236}">
                <a16:creationId xmlns:a16="http://schemas.microsoft.com/office/drawing/2014/main" id="{06E5FD6F-C7C0-6382-FA08-A79C161AC959}"/>
              </a:ext>
            </a:extLst>
          </p:cNvPr>
          <p:cNvPicPr>
            <a:picLocks noChangeAspect="1"/>
          </p:cNvPicPr>
          <p:nvPr/>
        </p:nvPicPr>
        <p:blipFill>
          <a:blip r:embed="rId4"/>
          <a:stretch>
            <a:fillRect/>
          </a:stretch>
        </p:blipFill>
        <p:spPr>
          <a:xfrm>
            <a:off x="913795" y="2447600"/>
            <a:ext cx="4359185" cy="3355792"/>
          </a:xfrm>
          <a:prstGeom prst="rect">
            <a:avLst/>
          </a:prstGeom>
        </p:spPr>
      </p:pic>
    </p:spTree>
    <p:extLst>
      <p:ext uri="{BB962C8B-B14F-4D97-AF65-F5344CB8AC3E}">
        <p14:creationId xmlns:p14="http://schemas.microsoft.com/office/powerpoint/2010/main" val="2493396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B6F4222-5479-2AF3-F17A-3C7ADCD5E41D}"/>
              </a:ext>
            </a:extLst>
          </p:cNvPr>
          <p:cNvSpPr>
            <a:spLocks noGrp="1"/>
          </p:cNvSpPr>
          <p:nvPr>
            <p:ph type="title"/>
          </p:nvPr>
        </p:nvSpPr>
        <p:spPr/>
        <p:txBody>
          <a:bodyPr>
            <a:noAutofit/>
          </a:bodyPr>
          <a:lstStyle/>
          <a:p>
            <a:pPr algn="l"/>
            <a:r>
              <a:rPr lang="zh-TW" altLang="en-US" sz="6000" dirty="0">
                <a:latin typeface="+mj-ea"/>
              </a:rPr>
              <a:t>修改</a:t>
            </a:r>
            <a:endParaRPr lang="zh-TW" altLang="en-US" sz="6000" dirty="0"/>
          </a:p>
        </p:txBody>
      </p:sp>
      <p:sp>
        <p:nvSpPr>
          <p:cNvPr id="3" name="內容版面配置區 2">
            <a:extLst>
              <a:ext uri="{FF2B5EF4-FFF2-40B4-BE49-F238E27FC236}">
                <a16:creationId xmlns:a16="http://schemas.microsoft.com/office/drawing/2014/main" id="{7F233463-B3D3-C4C1-9F57-840FE5A11581}"/>
              </a:ext>
            </a:extLst>
          </p:cNvPr>
          <p:cNvSpPr>
            <a:spLocks noGrp="1"/>
          </p:cNvSpPr>
          <p:nvPr>
            <p:ph idx="1"/>
          </p:nvPr>
        </p:nvSpPr>
        <p:spPr/>
        <p:txBody>
          <a:bodyPr/>
          <a:lstStyle/>
          <a:p>
            <a:r>
              <a:rPr lang="zh-TW" altLang="en-US" dirty="0"/>
              <a:t>針對特定患者年齡進行修改，若輸入相同年齡則印出已存在資料</a:t>
            </a:r>
          </a:p>
        </p:txBody>
      </p:sp>
      <p:pic>
        <p:nvPicPr>
          <p:cNvPr id="6" name="圖片 5">
            <a:extLst>
              <a:ext uri="{FF2B5EF4-FFF2-40B4-BE49-F238E27FC236}">
                <a16:creationId xmlns:a16="http://schemas.microsoft.com/office/drawing/2014/main" id="{9D7E4CF6-97F7-FC3D-7995-BC54CE1E02AB}"/>
              </a:ext>
            </a:extLst>
          </p:cNvPr>
          <p:cNvPicPr>
            <a:picLocks noChangeAspect="1"/>
          </p:cNvPicPr>
          <p:nvPr/>
        </p:nvPicPr>
        <p:blipFill>
          <a:blip r:embed="rId2"/>
          <a:stretch>
            <a:fillRect/>
          </a:stretch>
        </p:blipFill>
        <p:spPr>
          <a:xfrm>
            <a:off x="1011331" y="2367377"/>
            <a:ext cx="4353149" cy="3001816"/>
          </a:xfrm>
          <a:prstGeom prst="rect">
            <a:avLst/>
          </a:prstGeom>
        </p:spPr>
      </p:pic>
      <p:pic>
        <p:nvPicPr>
          <p:cNvPr id="8" name="圖片 7">
            <a:extLst>
              <a:ext uri="{FF2B5EF4-FFF2-40B4-BE49-F238E27FC236}">
                <a16:creationId xmlns:a16="http://schemas.microsoft.com/office/drawing/2014/main" id="{7E4E8567-234E-C30D-52C8-39894512FA5F}"/>
              </a:ext>
            </a:extLst>
          </p:cNvPr>
          <p:cNvPicPr>
            <a:picLocks noChangeAspect="1"/>
          </p:cNvPicPr>
          <p:nvPr/>
        </p:nvPicPr>
        <p:blipFill>
          <a:blip r:embed="rId3"/>
          <a:stretch>
            <a:fillRect/>
          </a:stretch>
        </p:blipFill>
        <p:spPr>
          <a:xfrm>
            <a:off x="5462016" y="4380211"/>
            <a:ext cx="3974592" cy="988982"/>
          </a:xfrm>
          <a:prstGeom prst="rect">
            <a:avLst/>
          </a:prstGeom>
        </p:spPr>
      </p:pic>
    </p:spTree>
    <p:extLst>
      <p:ext uri="{BB962C8B-B14F-4D97-AF65-F5344CB8AC3E}">
        <p14:creationId xmlns:p14="http://schemas.microsoft.com/office/powerpoint/2010/main" val="1728644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1351CB7-EAEE-DEA9-0EBF-3A0E0ECD152D}"/>
              </a:ext>
            </a:extLst>
          </p:cNvPr>
          <p:cNvSpPr>
            <a:spLocks noGrp="1"/>
          </p:cNvSpPr>
          <p:nvPr>
            <p:ph type="title"/>
          </p:nvPr>
        </p:nvSpPr>
        <p:spPr/>
        <p:txBody>
          <a:bodyPr>
            <a:noAutofit/>
          </a:bodyPr>
          <a:lstStyle/>
          <a:p>
            <a:pPr algn="l"/>
            <a:r>
              <a:rPr lang="zh-TW" altLang="en-US" sz="6000" dirty="0">
                <a:latin typeface="+mj-ea"/>
              </a:rPr>
              <a:t>刪除</a:t>
            </a:r>
            <a:endParaRPr lang="zh-TW" altLang="en-US" sz="6000" dirty="0"/>
          </a:p>
        </p:txBody>
      </p:sp>
      <p:sp>
        <p:nvSpPr>
          <p:cNvPr id="7" name="內容版面配置區 6">
            <a:extLst>
              <a:ext uri="{FF2B5EF4-FFF2-40B4-BE49-F238E27FC236}">
                <a16:creationId xmlns:a16="http://schemas.microsoft.com/office/drawing/2014/main" id="{B3F9E34D-D94E-6490-4C2D-9DDA5F5E08EC}"/>
              </a:ext>
            </a:extLst>
          </p:cNvPr>
          <p:cNvSpPr>
            <a:spLocks noGrp="1"/>
          </p:cNvSpPr>
          <p:nvPr>
            <p:ph idx="1"/>
          </p:nvPr>
        </p:nvSpPr>
        <p:spPr/>
        <p:txBody>
          <a:bodyPr/>
          <a:lstStyle/>
          <a:p>
            <a:r>
              <a:rPr lang="zh-TW" altLang="en-US" dirty="0"/>
              <a:t>視窗輸入完整資料後，若查找成功則刪除</a:t>
            </a:r>
          </a:p>
        </p:txBody>
      </p:sp>
      <p:pic>
        <p:nvPicPr>
          <p:cNvPr id="4" name="圖片 3">
            <a:extLst>
              <a:ext uri="{FF2B5EF4-FFF2-40B4-BE49-F238E27FC236}">
                <a16:creationId xmlns:a16="http://schemas.microsoft.com/office/drawing/2014/main" id="{A34E8C20-EB97-0D84-D219-6EFDB529B91F}"/>
              </a:ext>
            </a:extLst>
          </p:cNvPr>
          <p:cNvPicPr>
            <a:picLocks noChangeAspect="1"/>
          </p:cNvPicPr>
          <p:nvPr/>
        </p:nvPicPr>
        <p:blipFill>
          <a:blip r:embed="rId2"/>
          <a:stretch>
            <a:fillRect/>
          </a:stretch>
        </p:blipFill>
        <p:spPr>
          <a:xfrm>
            <a:off x="913795" y="2423965"/>
            <a:ext cx="4701195" cy="2976078"/>
          </a:xfrm>
          <a:prstGeom prst="rect">
            <a:avLst/>
          </a:prstGeom>
        </p:spPr>
      </p:pic>
      <p:pic>
        <p:nvPicPr>
          <p:cNvPr id="6" name="圖片 5">
            <a:extLst>
              <a:ext uri="{FF2B5EF4-FFF2-40B4-BE49-F238E27FC236}">
                <a16:creationId xmlns:a16="http://schemas.microsoft.com/office/drawing/2014/main" id="{086BC6E3-DF9A-D109-27C7-6316C525CC6E}"/>
              </a:ext>
            </a:extLst>
          </p:cNvPr>
          <p:cNvPicPr>
            <a:picLocks noChangeAspect="1"/>
          </p:cNvPicPr>
          <p:nvPr/>
        </p:nvPicPr>
        <p:blipFill>
          <a:blip r:embed="rId3"/>
          <a:stretch>
            <a:fillRect/>
          </a:stretch>
        </p:blipFill>
        <p:spPr>
          <a:xfrm>
            <a:off x="924443" y="5400043"/>
            <a:ext cx="6234912" cy="695741"/>
          </a:xfrm>
          <a:prstGeom prst="rect">
            <a:avLst/>
          </a:prstGeom>
        </p:spPr>
      </p:pic>
    </p:spTree>
    <p:extLst>
      <p:ext uri="{BB962C8B-B14F-4D97-AF65-F5344CB8AC3E}">
        <p14:creationId xmlns:p14="http://schemas.microsoft.com/office/powerpoint/2010/main" val="2129736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27770E-6DA4-F04D-CDEC-A7E6A02BCC54}"/>
              </a:ext>
            </a:extLst>
          </p:cNvPr>
          <p:cNvSpPr>
            <a:spLocks noGrp="1"/>
          </p:cNvSpPr>
          <p:nvPr>
            <p:ph type="title"/>
          </p:nvPr>
        </p:nvSpPr>
        <p:spPr/>
        <p:txBody>
          <a:bodyPr>
            <a:noAutofit/>
          </a:bodyPr>
          <a:lstStyle/>
          <a:p>
            <a:pPr algn="l"/>
            <a:r>
              <a:rPr lang="zh-TW" altLang="en-US" sz="6000" dirty="0">
                <a:latin typeface="+mj-ea"/>
              </a:rPr>
              <a:t>查詢</a:t>
            </a:r>
            <a:endParaRPr lang="zh-TW" altLang="en-US" sz="6000" dirty="0"/>
          </a:p>
        </p:txBody>
      </p:sp>
      <p:sp>
        <p:nvSpPr>
          <p:cNvPr id="3" name="內容版面配置區 2">
            <a:extLst>
              <a:ext uri="{FF2B5EF4-FFF2-40B4-BE49-F238E27FC236}">
                <a16:creationId xmlns:a16="http://schemas.microsoft.com/office/drawing/2014/main" id="{A9E530CA-4BD6-744F-6B83-6015C865E453}"/>
              </a:ext>
            </a:extLst>
          </p:cNvPr>
          <p:cNvSpPr>
            <a:spLocks noGrp="1"/>
          </p:cNvSpPr>
          <p:nvPr>
            <p:ph idx="1"/>
          </p:nvPr>
        </p:nvSpPr>
        <p:spPr/>
        <p:txBody>
          <a:bodyPr/>
          <a:lstStyle/>
          <a:p>
            <a:r>
              <a:rPr lang="zh-TW" altLang="en-US" dirty="0"/>
              <a:t>查詢分為</a:t>
            </a:r>
            <a:r>
              <a:rPr lang="zh-TW" altLang="en-US" b="1" dirty="0"/>
              <a:t>層級查詢</a:t>
            </a:r>
            <a:r>
              <a:rPr lang="zh-TW" altLang="en-US" dirty="0"/>
              <a:t>與</a:t>
            </a:r>
            <a:r>
              <a:rPr lang="zh-TW" altLang="en-US" b="1" dirty="0"/>
              <a:t>特定病人查詢</a:t>
            </a:r>
            <a:r>
              <a:rPr lang="zh-TW" altLang="en-US" dirty="0"/>
              <a:t>，前者輸出特定層級的所有病人，後者將符合姓名的病患印出</a:t>
            </a:r>
          </a:p>
        </p:txBody>
      </p:sp>
      <p:pic>
        <p:nvPicPr>
          <p:cNvPr id="5" name="圖片 4">
            <a:extLst>
              <a:ext uri="{FF2B5EF4-FFF2-40B4-BE49-F238E27FC236}">
                <a16:creationId xmlns:a16="http://schemas.microsoft.com/office/drawing/2014/main" id="{88117D64-04A4-85D1-826C-173110058F62}"/>
              </a:ext>
            </a:extLst>
          </p:cNvPr>
          <p:cNvPicPr>
            <a:picLocks noChangeAspect="1"/>
          </p:cNvPicPr>
          <p:nvPr/>
        </p:nvPicPr>
        <p:blipFill>
          <a:blip r:embed="rId2"/>
          <a:stretch>
            <a:fillRect/>
          </a:stretch>
        </p:blipFill>
        <p:spPr>
          <a:xfrm>
            <a:off x="924443" y="2493056"/>
            <a:ext cx="7560159" cy="750015"/>
          </a:xfrm>
          <a:prstGeom prst="rect">
            <a:avLst/>
          </a:prstGeom>
        </p:spPr>
      </p:pic>
      <p:pic>
        <p:nvPicPr>
          <p:cNvPr id="7" name="圖片 6">
            <a:extLst>
              <a:ext uri="{FF2B5EF4-FFF2-40B4-BE49-F238E27FC236}">
                <a16:creationId xmlns:a16="http://schemas.microsoft.com/office/drawing/2014/main" id="{BF6B0695-E4C3-50DE-A23E-F7D09E688C55}"/>
              </a:ext>
            </a:extLst>
          </p:cNvPr>
          <p:cNvPicPr>
            <a:picLocks noChangeAspect="1"/>
          </p:cNvPicPr>
          <p:nvPr/>
        </p:nvPicPr>
        <p:blipFill>
          <a:blip r:embed="rId3"/>
          <a:stretch>
            <a:fillRect/>
          </a:stretch>
        </p:blipFill>
        <p:spPr>
          <a:xfrm>
            <a:off x="4704522" y="3243071"/>
            <a:ext cx="3515216" cy="2095792"/>
          </a:xfrm>
          <a:prstGeom prst="rect">
            <a:avLst/>
          </a:prstGeom>
        </p:spPr>
      </p:pic>
      <p:pic>
        <p:nvPicPr>
          <p:cNvPr id="9" name="圖片 8">
            <a:extLst>
              <a:ext uri="{FF2B5EF4-FFF2-40B4-BE49-F238E27FC236}">
                <a16:creationId xmlns:a16="http://schemas.microsoft.com/office/drawing/2014/main" id="{72542524-496F-EE0D-2D48-EDACB52505A9}"/>
              </a:ext>
            </a:extLst>
          </p:cNvPr>
          <p:cNvPicPr>
            <a:picLocks noChangeAspect="1"/>
          </p:cNvPicPr>
          <p:nvPr/>
        </p:nvPicPr>
        <p:blipFill>
          <a:blip r:embed="rId4"/>
          <a:stretch>
            <a:fillRect/>
          </a:stretch>
        </p:blipFill>
        <p:spPr>
          <a:xfrm>
            <a:off x="4704522" y="5402920"/>
            <a:ext cx="3515216" cy="421042"/>
          </a:xfrm>
          <a:prstGeom prst="rect">
            <a:avLst/>
          </a:prstGeom>
        </p:spPr>
      </p:pic>
      <p:pic>
        <p:nvPicPr>
          <p:cNvPr id="11" name="圖片 10">
            <a:extLst>
              <a:ext uri="{FF2B5EF4-FFF2-40B4-BE49-F238E27FC236}">
                <a16:creationId xmlns:a16="http://schemas.microsoft.com/office/drawing/2014/main" id="{4597628F-49D3-374E-0A4D-3E989CB52E90}"/>
              </a:ext>
            </a:extLst>
          </p:cNvPr>
          <p:cNvPicPr>
            <a:picLocks noChangeAspect="1"/>
          </p:cNvPicPr>
          <p:nvPr/>
        </p:nvPicPr>
        <p:blipFill>
          <a:blip r:embed="rId5"/>
          <a:stretch>
            <a:fillRect/>
          </a:stretch>
        </p:blipFill>
        <p:spPr>
          <a:xfrm>
            <a:off x="924442" y="3243071"/>
            <a:ext cx="3770753" cy="2340865"/>
          </a:xfrm>
          <a:prstGeom prst="rect">
            <a:avLst/>
          </a:prstGeom>
        </p:spPr>
      </p:pic>
    </p:spTree>
    <p:extLst>
      <p:ext uri="{BB962C8B-B14F-4D97-AF65-F5344CB8AC3E}">
        <p14:creationId xmlns:p14="http://schemas.microsoft.com/office/powerpoint/2010/main" val="2422282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EF6D53-43F8-F47C-A44B-002E418B7C6C}"/>
              </a:ext>
            </a:extLst>
          </p:cNvPr>
          <p:cNvSpPr>
            <a:spLocks noGrp="1"/>
          </p:cNvSpPr>
          <p:nvPr>
            <p:ph type="title"/>
          </p:nvPr>
        </p:nvSpPr>
        <p:spPr/>
        <p:txBody>
          <a:bodyPr>
            <a:noAutofit/>
          </a:bodyPr>
          <a:lstStyle/>
          <a:p>
            <a:pPr algn="l"/>
            <a:r>
              <a:rPr lang="zh-TW" altLang="en-US" sz="6000" dirty="0">
                <a:latin typeface="+mj-ea"/>
              </a:rPr>
              <a:t>檢視</a:t>
            </a:r>
            <a:endParaRPr lang="zh-TW" altLang="en-US" sz="6000" dirty="0"/>
          </a:p>
        </p:txBody>
      </p:sp>
      <p:sp>
        <p:nvSpPr>
          <p:cNvPr id="3" name="內容版面配置區 2">
            <a:extLst>
              <a:ext uri="{FF2B5EF4-FFF2-40B4-BE49-F238E27FC236}">
                <a16:creationId xmlns:a16="http://schemas.microsoft.com/office/drawing/2014/main" id="{E424947F-EE69-C0F9-6BF9-A32F24ED3AF8}"/>
              </a:ext>
            </a:extLst>
          </p:cNvPr>
          <p:cNvSpPr>
            <a:spLocks noGrp="1"/>
          </p:cNvSpPr>
          <p:nvPr>
            <p:ph idx="1"/>
          </p:nvPr>
        </p:nvSpPr>
        <p:spPr/>
        <p:txBody>
          <a:bodyPr/>
          <a:lstStyle/>
          <a:p>
            <a:r>
              <a:rPr lang="zh-TW" altLang="en-US" dirty="0"/>
              <a:t>使用檢視印出所有內容，利用</a:t>
            </a:r>
            <a:r>
              <a:rPr lang="zh-TW" altLang="en-US" b="1" dirty="0"/>
              <a:t>三維陣列</a:t>
            </a:r>
            <a:r>
              <a:rPr lang="zh-TW" altLang="en-US" dirty="0"/>
              <a:t>將資料儲存，再用</a:t>
            </a:r>
            <a:r>
              <a:rPr lang="en-US" altLang="zh-TW" b="1" dirty="0" err="1"/>
              <a:t>heapq</a:t>
            </a:r>
            <a:r>
              <a:rPr lang="zh-TW" altLang="en-US" dirty="0"/>
              <a:t>印出資料</a:t>
            </a:r>
          </a:p>
        </p:txBody>
      </p:sp>
      <p:pic>
        <p:nvPicPr>
          <p:cNvPr id="5" name="圖片 4">
            <a:extLst>
              <a:ext uri="{FF2B5EF4-FFF2-40B4-BE49-F238E27FC236}">
                <a16:creationId xmlns:a16="http://schemas.microsoft.com/office/drawing/2014/main" id="{FB469998-F6E8-C61F-C1E0-1D85E42A1289}"/>
              </a:ext>
            </a:extLst>
          </p:cNvPr>
          <p:cNvPicPr>
            <a:picLocks noChangeAspect="1"/>
          </p:cNvPicPr>
          <p:nvPr/>
        </p:nvPicPr>
        <p:blipFill>
          <a:blip r:embed="rId2"/>
          <a:stretch>
            <a:fillRect/>
          </a:stretch>
        </p:blipFill>
        <p:spPr>
          <a:xfrm>
            <a:off x="924443" y="2178852"/>
            <a:ext cx="2800741" cy="4058216"/>
          </a:xfrm>
          <a:prstGeom prst="rect">
            <a:avLst/>
          </a:prstGeom>
        </p:spPr>
      </p:pic>
      <p:pic>
        <p:nvPicPr>
          <p:cNvPr id="6" name="圖片 5">
            <a:extLst>
              <a:ext uri="{FF2B5EF4-FFF2-40B4-BE49-F238E27FC236}">
                <a16:creationId xmlns:a16="http://schemas.microsoft.com/office/drawing/2014/main" id="{6D330D62-AEA0-6004-217E-79EC085CEF68}"/>
              </a:ext>
            </a:extLst>
          </p:cNvPr>
          <p:cNvPicPr>
            <a:picLocks noChangeAspect="1"/>
          </p:cNvPicPr>
          <p:nvPr/>
        </p:nvPicPr>
        <p:blipFill>
          <a:blip r:embed="rId3"/>
          <a:stretch>
            <a:fillRect/>
          </a:stretch>
        </p:blipFill>
        <p:spPr>
          <a:xfrm>
            <a:off x="3735832" y="5630298"/>
            <a:ext cx="4217786" cy="606770"/>
          </a:xfrm>
          <a:prstGeom prst="rect">
            <a:avLst/>
          </a:prstGeom>
        </p:spPr>
      </p:pic>
    </p:spTree>
    <p:extLst>
      <p:ext uri="{BB962C8B-B14F-4D97-AF65-F5344CB8AC3E}">
        <p14:creationId xmlns:p14="http://schemas.microsoft.com/office/powerpoint/2010/main" val="3329129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E13D784-6468-FC3F-4C9F-D6AA241DFDFF}"/>
              </a:ext>
            </a:extLst>
          </p:cNvPr>
          <p:cNvSpPr>
            <a:spLocks noGrp="1"/>
          </p:cNvSpPr>
          <p:nvPr>
            <p:ph type="title"/>
          </p:nvPr>
        </p:nvSpPr>
        <p:spPr>
          <a:xfrm>
            <a:off x="913795" y="140207"/>
            <a:ext cx="10353762" cy="970450"/>
          </a:xfrm>
        </p:spPr>
        <p:txBody>
          <a:bodyPr>
            <a:noAutofit/>
          </a:bodyPr>
          <a:lstStyle/>
          <a:p>
            <a:pPr algn="l"/>
            <a:r>
              <a:rPr lang="zh-TW" altLang="en-US" sz="6000" dirty="0"/>
              <a:t>資料儲存與匯出</a:t>
            </a:r>
          </a:p>
        </p:txBody>
      </p:sp>
      <p:sp>
        <p:nvSpPr>
          <p:cNvPr id="3" name="內容版面配置區 2">
            <a:extLst>
              <a:ext uri="{FF2B5EF4-FFF2-40B4-BE49-F238E27FC236}">
                <a16:creationId xmlns:a16="http://schemas.microsoft.com/office/drawing/2014/main" id="{E6166BB9-166B-B312-9904-37F0C45E1E1F}"/>
              </a:ext>
            </a:extLst>
          </p:cNvPr>
          <p:cNvSpPr>
            <a:spLocks noGrp="1"/>
          </p:cNvSpPr>
          <p:nvPr>
            <p:ph idx="1"/>
          </p:nvPr>
        </p:nvSpPr>
        <p:spPr>
          <a:xfrm>
            <a:off x="913795" y="1110657"/>
            <a:ext cx="10353762" cy="4058751"/>
          </a:xfrm>
        </p:spPr>
        <p:txBody>
          <a:bodyPr/>
          <a:lstStyle/>
          <a:p>
            <a:r>
              <a:rPr lang="zh-TW" altLang="en-US" dirty="0"/>
              <a:t>結束操作後，系統會將此次操作結果進行歸檔處理，若為新檔案則會另存新檔</a:t>
            </a:r>
            <a:endParaRPr lang="en-US" altLang="zh-TW" dirty="0"/>
          </a:p>
          <a:p>
            <a:r>
              <a:rPr lang="zh-TW" altLang="en-US" dirty="0"/>
              <a:t>需要歸檔的資料</a:t>
            </a:r>
            <a:r>
              <a:rPr lang="en-US" altLang="zh-TW" dirty="0"/>
              <a:t>:</a:t>
            </a:r>
            <a:r>
              <a:rPr lang="zh-TW" altLang="en-US" dirty="0"/>
              <a:t>所有資料樹文件的編號</a:t>
            </a:r>
            <a:r>
              <a:rPr lang="en-US" altLang="zh-TW" dirty="0"/>
              <a:t>(</a:t>
            </a:r>
            <a:r>
              <a:rPr lang="zh-TW" altLang="en-US" dirty="0"/>
              <a:t>存放於</a:t>
            </a:r>
            <a:r>
              <a:rPr lang="en-US" altLang="zh-TW" b="1" dirty="0"/>
              <a:t>2-3</a:t>
            </a:r>
            <a:r>
              <a:rPr lang="zh-TW" altLang="en-US" b="1" dirty="0"/>
              <a:t>樹</a:t>
            </a:r>
            <a:r>
              <a:rPr lang="en-US" altLang="zh-TW" dirty="0"/>
              <a:t>)</a:t>
            </a:r>
            <a:r>
              <a:rPr lang="zh-TW" altLang="en-US" dirty="0"/>
              <a:t>、當前執行的資料樹文件</a:t>
            </a:r>
            <a:r>
              <a:rPr lang="en-US" altLang="zh-TW" dirty="0"/>
              <a:t>(</a:t>
            </a:r>
            <a:r>
              <a:rPr lang="zh-TW" altLang="en-US" dirty="0"/>
              <a:t>存放於</a:t>
            </a:r>
            <a:r>
              <a:rPr lang="zh-TW" altLang="en-US" b="1" dirty="0"/>
              <a:t>二元標準樹</a:t>
            </a:r>
            <a:r>
              <a:rPr lang="en-US" altLang="zh-TW" dirty="0"/>
              <a:t>)</a:t>
            </a:r>
            <a:r>
              <a:rPr lang="zh-TW" altLang="en-US" dirty="0"/>
              <a:t>、帳號與密碼表</a:t>
            </a:r>
            <a:r>
              <a:rPr lang="en-US" altLang="zh-TW" dirty="0"/>
              <a:t>(</a:t>
            </a:r>
            <a:r>
              <a:rPr lang="zh-TW" altLang="en-US" dirty="0"/>
              <a:t>存放於</a:t>
            </a:r>
            <a:r>
              <a:rPr lang="zh-TW" altLang="en-US" b="1" dirty="0"/>
              <a:t>二維陣列</a:t>
            </a:r>
            <a:r>
              <a:rPr lang="en-US" altLang="zh-TW" dirty="0"/>
              <a:t>)</a:t>
            </a:r>
          </a:p>
          <a:p>
            <a:r>
              <a:rPr lang="zh-TW" altLang="en-US" dirty="0"/>
              <a:t>帳號密碼表在註冊成功後就會自動歸檔，沒有最後一起</a:t>
            </a:r>
            <a:endParaRPr lang="en-US" altLang="zh-TW" dirty="0"/>
          </a:p>
          <a:p>
            <a:r>
              <a:rPr lang="zh-TW" altLang="en-US" dirty="0"/>
              <a:t>以</a:t>
            </a:r>
            <a:r>
              <a:rPr lang="zh-TW" altLang="en-US" b="1" dirty="0"/>
              <a:t>記事本</a:t>
            </a:r>
            <a:r>
              <a:rPr lang="zh-TW" altLang="en-US" dirty="0"/>
              <a:t>形式儲存</a:t>
            </a:r>
            <a:endParaRPr lang="en-US" altLang="zh-TW" dirty="0"/>
          </a:p>
          <a:p>
            <a:r>
              <a:rPr lang="zh-TW" altLang="en-US" dirty="0"/>
              <a:t>每個檔案皆有編號</a:t>
            </a:r>
            <a:r>
              <a:rPr lang="en-US" altLang="zh-TW" dirty="0"/>
              <a:t>(</a:t>
            </a:r>
            <a:r>
              <a:rPr lang="zh-TW" altLang="en-US" dirty="0"/>
              <a:t>如下圖的</a:t>
            </a:r>
            <a:r>
              <a:rPr lang="en-US" altLang="zh-TW" dirty="0"/>
              <a:t>patient_notes_123.txt)</a:t>
            </a:r>
            <a:r>
              <a:rPr lang="zh-TW" altLang="en-US" dirty="0"/>
              <a:t>，新檔案則需輸入欲儲存的編號</a:t>
            </a:r>
          </a:p>
        </p:txBody>
      </p:sp>
      <p:pic>
        <p:nvPicPr>
          <p:cNvPr id="6" name="圖片 5">
            <a:extLst>
              <a:ext uri="{FF2B5EF4-FFF2-40B4-BE49-F238E27FC236}">
                <a16:creationId xmlns:a16="http://schemas.microsoft.com/office/drawing/2014/main" id="{3C3C07E0-0213-398B-B8EC-4D763679C523}"/>
              </a:ext>
            </a:extLst>
          </p:cNvPr>
          <p:cNvPicPr>
            <a:picLocks noChangeAspect="1"/>
          </p:cNvPicPr>
          <p:nvPr/>
        </p:nvPicPr>
        <p:blipFill>
          <a:blip r:embed="rId2"/>
          <a:stretch>
            <a:fillRect/>
          </a:stretch>
        </p:blipFill>
        <p:spPr>
          <a:xfrm>
            <a:off x="924443" y="3605591"/>
            <a:ext cx="6148758" cy="3112201"/>
          </a:xfrm>
          <a:prstGeom prst="rect">
            <a:avLst/>
          </a:prstGeom>
        </p:spPr>
      </p:pic>
    </p:spTree>
    <p:extLst>
      <p:ext uri="{BB962C8B-B14F-4D97-AF65-F5344CB8AC3E}">
        <p14:creationId xmlns:p14="http://schemas.microsoft.com/office/powerpoint/2010/main" val="391924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ECCCEC5-2EB6-B1D9-4168-E53D7F445EEC}"/>
              </a:ext>
            </a:extLst>
          </p:cNvPr>
          <p:cNvSpPr>
            <a:spLocks noGrp="1"/>
          </p:cNvSpPr>
          <p:nvPr>
            <p:ph type="title"/>
          </p:nvPr>
        </p:nvSpPr>
        <p:spPr/>
        <p:txBody>
          <a:bodyPr>
            <a:noAutofit/>
          </a:bodyPr>
          <a:lstStyle/>
          <a:p>
            <a:pPr algn="l"/>
            <a:r>
              <a:rPr lang="zh-TW" altLang="en-US" sz="6000" dirty="0"/>
              <a:t>技術列表</a:t>
            </a:r>
            <a:r>
              <a:rPr lang="en-US" altLang="zh-TW" sz="6000" dirty="0"/>
              <a:t>_1</a:t>
            </a:r>
            <a:endParaRPr lang="zh-TW" altLang="en-US" sz="6000" dirty="0"/>
          </a:p>
        </p:txBody>
      </p:sp>
      <p:sp>
        <p:nvSpPr>
          <p:cNvPr id="3" name="內容版面配置區 2">
            <a:extLst>
              <a:ext uri="{FF2B5EF4-FFF2-40B4-BE49-F238E27FC236}">
                <a16:creationId xmlns:a16="http://schemas.microsoft.com/office/drawing/2014/main" id="{306D030E-EE1F-353E-0216-F531BA1B26B3}"/>
              </a:ext>
            </a:extLst>
          </p:cNvPr>
          <p:cNvSpPr>
            <a:spLocks noGrp="1"/>
          </p:cNvSpPr>
          <p:nvPr>
            <p:ph idx="1"/>
          </p:nvPr>
        </p:nvSpPr>
        <p:spPr/>
        <p:txBody>
          <a:bodyPr>
            <a:normAutofit lnSpcReduction="10000"/>
          </a:bodyPr>
          <a:lstStyle/>
          <a:p>
            <a:r>
              <a:rPr lang="zh-TW" altLang="en-US" sz="2400" dirty="0"/>
              <a:t>資列結構相關</a:t>
            </a:r>
            <a:r>
              <a:rPr lang="en-US" altLang="zh-TW" sz="2400" dirty="0"/>
              <a:t>:</a:t>
            </a:r>
          </a:p>
          <a:p>
            <a:pPr lvl="1"/>
            <a:r>
              <a:rPr lang="zh-TW" altLang="en-US" sz="2000" dirty="0"/>
              <a:t>二維陣列</a:t>
            </a:r>
            <a:r>
              <a:rPr lang="en-US" altLang="zh-TW" sz="2000" dirty="0"/>
              <a:t>:</a:t>
            </a:r>
            <a:r>
              <a:rPr lang="zh-TW" altLang="en-US" sz="2000" dirty="0"/>
              <a:t>讀取後的使用者帳密存在這裡</a:t>
            </a:r>
            <a:endParaRPr lang="en-US" altLang="zh-TW" sz="2000" dirty="0"/>
          </a:p>
          <a:p>
            <a:pPr lvl="1"/>
            <a:r>
              <a:rPr lang="zh-TW" altLang="en-US" sz="2000" dirty="0"/>
              <a:t>三維陣列</a:t>
            </a:r>
            <a:r>
              <a:rPr lang="en-US" altLang="zh-TW" sz="2000" dirty="0"/>
              <a:t>:</a:t>
            </a:r>
            <a:r>
              <a:rPr lang="zh-TW" altLang="en-US" sz="2000" dirty="0"/>
              <a:t>印出所有內容的第一步就是將資料轉換成三維陣列</a:t>
            </a:r>
            <a:endParaRPr lang="en-US" altLang="zh-TW" sz="2000" dirty="0"/>
          </a:p>
          <a:p>
            <a:pPr marL="450000" lvl="1" indent="0">
              <a:buNone/>
            </a:pPr>
            <a:r>
              <a:rPr lang="en-US" altLang="zh-TW" sz="2000" dirty="0"/>
              <a:t>	</a:t>
            </a:r>
            <a:r>
              <a:rPr lang="en-US" altLang="zh-TW" sz="2000" dirty="0" err="1"/>
              <a:t>eg.</a:t>
            </a:r>
            <a:r>
              <a:rPr lang="en-US" altLang="zh-TW" sz="2000" dirty="0"/>
              <a:t>[[[‘</a:t>
            </a:r>
            <a:r>
              <a:rPr lang="zh-TW" altLang="en-US" sz="2000" dirty="0"/>
              <a:t>層級</a:t>
            </a:r>
            <a:r>
              <a:rPr lang="en-US" altLang="zh-TW" sz="2000" dirty="0"/>
              <a:t>’, [</a:t>
            </a:r>
            <a:r>
              <a:rPr lang="zh-TW" altLang="en-US" sz="2000" dirty="0"/>
              <a:t>病患資料</a:t>
            </a:r>
            <a:r>
              <a:rPr lang="en-US" altLang="zh-TW" sz="2000" dirty="0"/>
              <a:t>]], [</a:t>
            </a:r>
            <a:r>
              <a:rPr lang="zh-TW" altLang="en-US" sz="2000" dirty="0"/>
              <a:t>層級</a:t>
            </a:r>
            <a:r>
              <a:rPr lang="en-US" altLang="zh-TW" sz="2000" dirty="0"/>
              <a:t>’, [</a:t>
            </a:r>
            <a:r>
              <a:rPr lang="zh-TW" altLang="en-US" sz="2000" dirty="0"/>
              <a:t>病患資料</a:t>
            </a:r>
            <a:r>
              <a:rPr lang="en-US" altLang="zh-TW" sz="2000" dirty="0"/>
              <a:t>]]…]</a:t>
            </a:r>
          </a:p>
          <a:p>
            <a:pPr lvl="1"/>
            <a:r>
              <a:rPr lang="zh-TW" altLang="en-US" sz="2000" dirty="0"/>
              <a:t>標準二元樹與相關應用</a:t>
            </a:r>
            <a:r>
              <a:rPr lang="en-US" altLang="zh-TW" sz="2000" dirty="0"/>
              <a:t>:</a:t>
            </a:r>
            <a:r>
              <a:rPr lang="zh-TW" altLang="en-US" sz="2000" dirty="0"/>
              <a:t>層級數目相同的一顆節點樹</a:t>
            </a:r>
            <a:endParaRPr lang="en-US" altLang="zh-TW" sz="2000" dirty="0"/>
          </a:p>
          <a:p>
            <a:pPr lvl="1"/>
            <a:r>
              <a:rPr lang="zh-TW" altLang="en-US" sz="2000" dirty="0"/>
              <a:t>鏈結串列與相關應用</a:t>
            </a:r>
            <a:r>
              <a:rPr lang="en-US" altLang="zh-TW" sz="2000" dirty="0"/>
              <a:t>:</a:t>
            </a:r>
            <a:r>
              <a:rPr lang="zh-TW" altLang="en-US" sz="2000" dirty="0"/>
              <a:t>同一層的的病患會用鏈結串列連起來</a:t>
            </a:r>
            <a:endParaRPr lang="en-US" altLang="zh-TW" sz="2000" dirty="0"/>
          </a:p>
          <a:p>
            <a:pPr lvl="1"/>
            <a:r>
              <a:rPr lang="en-US" altLang="zh-TW" sz="2000" dirty="0"/>
              <a:t>2-3</a:t>
            </a:r>
            <a:r>
              <a:rPr lang="zh-TW" altLang="en-US" sz="2000" dirty="0"/>
              <a:t>樹與相關應用</a:t>
            </a:r>
            <a:r>
              <a:rPr lang="en-US" altLang="zh-TW" sz="2000" dirty="0"/>
              <a:t>:</a:t>
            </a:r>
            <a:r>
              <a:rPr lang="zh-TW" altLang="en-US" sz="2000" dirty="0"/>
              <a:t>多個病患文件有著彼此不同編號，用</a:t>
            </a:r>
            <a:r>
              <a:rPr lang="en-US" altLang="zh-TW" sz="2000" dirty="0"/>
              <a:t>2-3</a:t>
            </a:r>
            <a:r>
              <a:rPr lang="zh-TW" altLang="en-US" sz="2000" dirty="0"/>
              <a:t>樹儲存所有編號，以此來做後續應用</a:t>
            </a:r>
            <a:endParaRPr lang="en-US" altLang="zh-TW" sz="2000" dirty="0"/>
          </a:p>
          <a:p>
            <a:pPr lvl="1"/>
            <a:r>
              <a:rPr lang="zh-TW" altLang="en-US" sz="2000" dirty="0"/>
              <a:t>堆疊、遞迴</a:t>
            </a:r>
            <a:r>
              <a:rPr lang="en-US" altLang="zh-TW" sz="2000" dirty="0"/>
              <a:t>:</a:t>
            </a:r>
            <a:r>
              <a:rPr lang="zh-TW" altLang="en-US" sz="2000" dirty="0"/>
              <a:t>樹的建立過程與查找，或是印出資料的相關處理都會用到</a:t>
            </a:r>
            <a:endParaRPr lang="en-US" altLang="zh-TW" sz="2000" dirty="0"/>
          </a:p>
          <a:p>
            <a:pPr lvl="1"/>
            <a:r>
              <a:rPr lang="en-US" altLang="zh-TW" sz="2000" dirty="0" err="1"/>
              <a:t>Heapq</a:t>
            </a:r>
            <a:r>
              <a:rPr lang="en-US" altLang="zh-TW" sz="2000" dirty="0"/>
              <a:t>:</a:t>
            </a:r>
            <a:r>
              <a:rPr lang="zh-TW" altLang="en-US" sz="2000" dirty="0"/>
              <a:t>將儲存所有病患資料的陣列利用</a:t>
            </a:r>
            <a:r>
              <a:rPr lang="en-US" altLang="zh-TW" sz="2000" dirty="0" err="1"/>
              <a:t>heapq</a:t>
            </a:r>
            <a:r>
              <a:rPr lang="zh-TW" altLang="en-US" sz="2000" dirty="0"/>
              <a:t>從層級小到大依序排列輸出資料</a:t>
            </a:r>
            <a:endParaRPr lang="en-US" altLang="zh-TW" sz="2000" dirty="0"/>
          </a:p>
        </p:txBody>
      </p:sp>
    </p:spTree>
    <p:extLst>
      <p:ext uri="{BB962C8B-B14F-4D97-AF65-F5344CB8AC3E}">
        <p14:creationId xmlns:p14="http://schemas.microsoft.com/office/powerpoint/2010/main" val="22909395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3B439A-C6D1-A4C1-0DBF-308A89752251}"/>
              </a:ext>
            </a:extLst>
          </p:cNvPr>
          <p:cNvSpPr>
            <a:spLocks noGrp="1"/>
          </p:cNvSpPr>
          <p:nvPr>
            <p:ph type="title"/>
          </p:nvPr>
        </p:nvSpPr>
        <p:spPr/>
        <p:txBody>
          <a:bodyPr>
            <a:noAutofit/>
          </a:bodyPr>
          <a:lstStyle/>
          <a:p>
            <a:pPr algn="l"/>
            <a:r>
              <a:rPr lang="zh-TW" altLang="en-US" sz="6000" dirty="0"/>
              <a:t>技術列表</a:t>
            </a:r>
            <a:r>
              <a:rPr lang="en-US" altLang="zh-TW" sz="6000" dirty="0"/>
              <a:t>_2</a:t>
            </a:r>
            <a:endParaRPr lang="zh-TW" altLang="en-US" sz="6000" dirty="0"/>
          </a:p>
        </p:txBody>
      </p:sp>
      <p:sp>
        <p:nvSpPr>
          <p:cNvPr id="3" name="內容版面配置區 2">
            <a:extLst>
              <a:ext uri="{FF2B5EF4-FFF2-40B4-BE49-F238E27FC236}">
                <a16:creationId xmlns:a16="http://schemas.microsoft.com/office/drawing/2014/main" id="{612B5493-BD40-9F05-89A0-24025DE5D935}"/>
              </a:ext>
            </a:extLst>
          </p:cNvPr>
          <p:cNvSpPr>
            <a:spLocks noGrp="1"/>
          </p:cNvSpPr>
          <p:nvPr>
            <p:ph idx="1"/>
          </p:nvPr>
        </p:nvSpPr>
        <p:spPr>
          <a:xfrm>
            <a:off x="913795" y="1732449"/>
            <a:ext cx="10353762" cy="4515951"/>
          </a:xfrm>
        </p:spPr>
        <p:txBody>
          <a:bodyPr>
            <a:normAutofit fontScale="85000" lnSpcReduction="20000"/>
          </a:bodyPr>
          <a:lstStyle/>
          <a:p>
            <a:r>
              <a:rPr lang="zh-TW" altLang="en-US" sz="2800" dirty="0"/>
              <a:t>其他</a:t>
            </a:r>
            <a:endParaRPr lang="en-US" altLang="zh-TW" sz="2800" dirty="0"/>
          </a:p>
          <a:p>
            <a:pPr lvl="1"/>
            <a:r>
              <a:rPr lang="zh-TW" altLang="en-US" sz="2400" dirty="0"/>
              <a:t>記事本文件讀取、編輯、儲存</a:t>
            </a:r>
            <a:r>
              <a:rPr lang="en-US" altLang="zh-TW" sz="2400" dirty="0"/>
              <a:t>:</a:t>
            </a:r>
            <a:r>
              <a:rPr lang="zh-TW" altLang="en-US" sz="2400" dirty="0"/>
              <a:t>患者資料文件、使用者帳密列表、所有文件編號的文件</a:t>
            </a:r>
            <a:endParaRPr lang="en-US" altLang="zh-TW" sz="2400" dirty="0"/>
          </a:p>
          <a:p>
            <a:pPr lvl="1"/>
            <a:r>
              <a:rPr lang="zh-TW" altLang="en-US" sz="2400" dirty="0"/>
              <a:t>除錯、例外判斷</a:t>
            </a:r>
            <a:r>
              <a:rPr lang="en-US" altLang="zh-TW" sz="2400" dirty="0"/>
              <a:t>:</a:t>
            </a:r>
            <a:r>
              <a:rPr lang="zh-TW" altLang="en-US" sz="2400" dirty="0"/>
              <a:t>針對可能發生的邏輯錯誤以及使用者的惡意輸入進行防範</a:t>
            </a:r>
            <a:endParaRPr lang="en-US" altLang="zh-TW" sz="2400" dirty="0"/>
          </a:p>
          <a:p>
            <a:pPr lvl="1"/>
            <a:r>
              <a:rPr lang="zh-TW" altLang="en-US" sz="2400" dirty="0"/>
              <a:t>視窗介面設計</a:t>
            </a:r>
            <a:r>
              <a:rPr lang="en-US" altLang="zh-TW" sz="2400" dirty="0"/>
              <a:t>:</a:t>
            </a:r>
            <a:r>
              <a:rPr lang="zh-TW" altLang="en-US" sz="2400" dirty="0"/>
              <a:t>部分輸入採用視窗進行，並利用提示資訊引導動作</a:t>
            </a:r>
            <a:endParaRPr lang="en-US" altLang="zh-TW" sz="2400" dirty="0"/>
          </a:p>
          <a:p>
            <a:pPr lvl="1"/>
            <a:r>
              <a:rPr lang="zh-TW" altLang="en-US" sz="2400" dirty="0"/>
              <a:t>二元樹與鏈結串列的整合</a:t>
            </a:r>
            <a:r>
              <a:rPr lang="en-US" altLang="zh-TW" sz="2400" dirty="0"/>
              <a:t>:</a:t>
            </a:r>
            <a:r>
              <a:rPr lang="zh-TW" altLang="en-US" sz="2400" dirty="0"/>
              <a:t>在二元樹的每個節點中使用鏈結串列</a:t>
            </a:r>
            <a:endParaRPr lang="en-US" altLang="zh-TW" sz="2400" dirty="0"/>
          </a:p>
          <a:p>
            <a:pPr lvl="1"/>
            <a:r>
              <a:rPr lang="zh-TW" altLang="en-US" sz="2400" dirty="0"/>
              <a:t>文件編譯方式</a:t>
            </a:r>
            <a:r>
              <a:rPr lang="en-US" altLang="zh-TW" sz="2400" dirty="0"/>
              <a:t>:</a:t>
            </a:r>
            <a:r>
              <a:rPr lang="zh-TW" altLang="en-US" sz="2400" dirty="0"/>
              <a:t>用特殊技術避免文件在加解碼過程使用不同方式造成的讀取錯誤</a:t>
            </a:r>
            <a:endParaRPr lang="en-US" altLang="zh-TW" sz="2400" dirty="0"/>
          </a:p>
          <a:p>
            <a:pPr lvl="1"/>
            <a:r>
              <a:rPr lang="zh-TW" altLang="en-US" sz="2400" dirty="0"/>
              <a:t>視窗中事件偵測</a:t>
            </a:r>
            <a:r>
              <a:rPr lang="en-US" altLang="zh-TW" sz="2400" dirty="0"/>
              <a:t>:</a:t>
            </a:r>
            <a:r>
              <a:rPr lang="zh-TW" altLang="en-US" sz="2400" dirty="0"/>
              <a:t>對於關閉視窗、輸入內容判讀等進行相應動作</a:t>
            </a:r>
            <a:endParaRPr lang="en-US" altLang="zh-TW" sz="2400" dirty="0"/>
          </a:p>
          <a:p>
            <a:pPr lvl="1"/>
            <a:r>
              <a:rPr lang="zh-TW" altLang="en-US" sz="2400" dirty="0"/>
              <a:t>輸入邏輯判斷</a:t>
            </a:r>
            <a:r>
              <a:rPr lang="en-US" altLang="zh-TW" sz="2400" dirty="0"/>
              <a:t>:</a:t>
            </a:r>
            <a:r>
              <a:rPr lang="zh-TW" altLang="en-US" sz="2400" dirty="0"/>
              <a:t>要求姓名輸入只能中英並規定長度、輸入的層級與年齡是否不合理</a:t>
            </a:r>
            <a:endParaRPr lang="en-US" altLang="zh-TW" sz="2400" dirty="0"/>
          </a:p>
          <a:p>
            <a:pPr lvl="1"/>
            <a:r>
              <a:rPr lang="zh-TW" altLang="en-US" sz="2400" dirty="0"/>
              <a:t>結束完一份文件的編輯後，可以選擇開啟其他文件或創建文件再次使用，不需再登入</a:t>
            </a:r>
            <a:endParaRPr lang="en-US" altLang="zh-TW" sz="2400" dirty="0"/>
          </a:p>
          <a:p>
            <a:pPr lvl="1"/>
            <a:r>
              <a:rPr lang="zh-TW" altLang="en-US" sz="2400" dirty="0"/>
              <a:t>鏈結串列的刪除與搜尋</a:t>
            </a:r>
            <a:endParaRPr lang="en-US" altLang="zh-TW" sz="2400" dirty="0"/>
          </a:p>
          <a:p>
            <a:pPr lvl="1"/>
            <a:r>
              <a:rPr lang="zh-TW" altLang="en-US" sz="2400" dirty="0"/>
              <a:t>樹的搜尋</a:t>
            </a:r>
            <a:endParaRPr lang="en-US" altLang="zh-TW" sz="2400" dirty="0"/>
          </a:p>
          <a:p>
            <a:pPr lvl="1"/>
            <a:endParaRPr lang="en-US" altLang="zh-TW" sz="2000" dirty="0"/>
          </a:p>
          <a:p>
            <a:pPr lvl="1"/>
            <a:endParaRPr lang="zh-TW" altLang="en-US" dirty="0"/>
          </a:p>
        </p:txBody>
      </p:sp>
    </p:spTree>
    <p:extLst>
      <p:ext uri="{BB962C8B-B14F-4D97-AF65-F5344CB8AC3E}">
        <p14:creationId xmlns:p14="http://schemas.microsoft.com/office/powerpoint/2010/main" val="6291621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BBA957-9D7A-2D25-CF6D-D9857899CC6D}"/>
              </a:ext>
            </a:extLst>
          </p:cNvPr>
          <p:cNvSpPr>
            <a:spLocks noGrp="1"/>
          </p:cNvSpPr>
          <p:nvPr>
            <p:ph type="title"/>
          </p:nvPr>
        </p:nvSpPr>
        <p:spPr/>
        <p:txBody>
          <a:bodyPr>
            <a:noAutofit/>
          </a:bodyPr>
          <a:lstStyle/>
          <a:p>
            <a:pPr algn="l"/>
            <a:r>
              <a:rPr lang="zh-TW" altLang="en-US" sz="6000" dirty="0"/>
              <a:t>技術列表</a:t>
            </a:r>
            <a:r>
              <a:rPr lang="en-US" altLang="zh-TW" sz="6000" dirty="0"/>
              <a:t>_3</a:t>
            </a:r>
            <a:endParaRPr lang="zh-TW" altLang="en-US" sz="6000" dirty="0"/>
          </a:p>
        </p:txBody>
      </p:sp>
      <p:sp>
        <p:nvSpPr>
          <p:cNvPr id="3" name="內容版面配置區 2">
            <a:extLst>
              <a:ext uri="{FF2B5EF4-FFF2-40B4-BE49-F238E27FC236}">
                <a16:creationId xmlns:a16="http://schemas.microsoft.com/office/drawing/2014/main" id="{7C0B3CAB-10D7-7C51-70FD-7501452A275C}"/>
              </a:ext>
            </a:extLst>
          </p:cNvPr>
          <p:cNvSpPr>
            <a:spLocks noGrp="1"/>
          </p:cNvSpPr>
          <p:nvPr>
            <p:ph idx="1"/>
          </p:nvPr>
        </p:nvSpPr>
        <p:spPr/>
        <p:txBody>
          <a:bodyPr/>
          <a:lstStyle/>
          <a:p>
            <a:r>
              <a:rPr lang="zh-TW" altLang="en-US" sz="2400" dirty="0"/>
              <a:t>其他</a:t>
            </a:r>
            <a:endParaRPr lang="en-US" altLang="zh-TW" sz="2400" dirty="0"/>
          </a:p>
          <a:p>
            <a:pPr lvl="1"/>
            <a:r>
              <a:rPr lang="en-US" altLang="zh-TW" sz="2000" dirty="0" err="1"/>
              <a:t>Heapq</a:t>
            </a:r>
            <a:r>
              <a:rPr lang="zh-TW" altLang="en-US" sz="2000" dirty="0"/>
              <a:t>的應用</a:t>
            </a:r>
            <a:endParaRPr lang="en-US" altLang="zh-TW" sz="2000" dirty="0"/>
          </a:p>
          <a:p>
            <a:pPr lvl="1"/>
            <a:r>
              <a:rPr lang="zh-TW" altLang="en-US" sz="2000" dirty="0"/>
              <a:t>使用者身分驗證</a:t>
            </a:r>
            <a:r>
              <a:rPr lang="en-US" altLang="zh-TW" sz="2000" dirty="0"/>
              <a:t>:</a:t>
            </a:r>
            <a:r>
              <a:rPr lang="zh-TW" altLang="en-US" sz="2000" dirty="0"/>
              <a:t>帳密系統</a:t>
            </a:r>
            <a:endParaRPr lang="en-US" altLang="zh-TW" sz="2000" dirty="0"/>
          </a:p>
          <a:p>
            <a:pPr lvl="1"/>
            <a:r>
              <a:rPr lang="zh-TW" altLang="en-US" sz="2000" dirty="0"/>
              <a:t>節省算力</a:t>
            </a:r>
            <a:r>
              <a:rPr lang="en-US" altLang="zh-TW" sz="2000" dirty="0"/>
              <a:t>:</a:t>
            </a:r>
            <a:r>
              <a:rPr lang="zh-TW" altLang="en-US" sz="2000" dirty="0"/>
              <a:t>刪除、修改、與查詢前先判斷是否有病患資料存在，以及在輸入部分篩選掉過於不合理的內容，如過大的層級範圍、年齡</a:t>
            </a:r>
            <a:endParaRPr lang="en-US" altLang="zh-TW" sz="2000" dirty="0"/>
          </a:p>
          <a:p>
            <a:pPr lvl="1"/>
            <a:r>
              <a:rPr lang="zh-TW" altLang="en-US" sz="2000" dirty="0"/>
              <a:t>多檔案撰寫，提升後續更改效率</a:t>
            </a:r>
            <a:endParaRPr lang="en-US" altLang="zh-TW" sz="2000" dirty="0"/>
          </a:p>
          <a:p>
            <a:pPr lvl="1"/>
            <a:r>
              <a:rPr lang="zh-TW" altLang="en-US" sz="2000" dirty="0"/>
              <a:t>簡潔明瞭的提示字有效引導執行</a:t>
            </a:r>
            <a:endParaRPr lang="en-US" altLang="zh-TW" sz="2000" dirty="0"/>
          </a:p>
          <a:p>
            <a:pPr lvl="1"/>
            <a:endParaRPr lang="en-US" altLang="zh-TW" sz="2000" dirty="0"/>
          </a:p>
          <a:p>
            <a:pPr lvl="1"/>
            <a:endParaRPr lang="en-US" altLang="zh-TW" dirty="0"/>
          </a:p>
          <a:p>
            <a:pPr lvl="1"/>
            <a:endParaRPr lang="zh-TW" altLang="en-US" dirty="0"/>
          </a:p>
        </p:txBody>
      </p:sp>
    </p:spTree>
    <p:extLst>
      <p:ext uri="{BB962C8B-B14F-4D97-AF65-F5344CB8AC3E}">
        <p14:creationId xmlns:p14="http://schemas.microsoft.com/office/powerpoint/2010/main" val="3179529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D52A61-0633-6A47-CAF0-05863097B141}"/>
              </a:ext>
            </a:extLst>
          </p:cNvPr>
          <p:cNvSpPr>
            <a:spLocks noGrp="1"/>
          </p:cNvSpPr>
          <p:nvPr>
            <p:ph type="title"/>
          </p:nvPr>
        </p:nvSpPr>
        <p:spPr>
          <a:xfrm>
            <a:off x="919119" y="219262"/>
            <a:ext cx="10353762" cy="970450"/>
          </a:xfrm>
        </p:spPr>
        <p:txBody>
          <a:bodyPr>
            <a:noAutofit/>
          </a:bodyPr>
          <a:lstStyle/>
          <a:p>
            <a:pPr algn="l"/>
            <a:r>
              <a:rPr lang="zh-TW" altLang="en-US" sz="6000" dirty="0"/>
              <a:t>相關圖片</a:t>
            </a:r>
          </a:p>
        </p:txBody>
      </p:sp>
      <p:pic>
        <p:nvPicPr>
          <p:cNvPr id="9" name="圖片 8">
            <a:extLst>
              <a:ext uri="{FF2B5EF4-FFF2-40B4-BE49-F238E27FC236}">
                <a16:creationId xmlns:a16="http://schemas.microsoft.com/office/drawing/2014/main" id="{8C9E4E39-3F09-F00F-6E29-FEBFAD971965}"/>
              </a:ext>
            </a:extLst>
          </p:cNvPr>
          <p:cNvPicPr>
            <a:picLocks noChangeAspect="1"/>
          </p:cNvPicPr>
          <p:nvPr/>
        </p:nvPicPr>
        <p:blipFill>
          <a:blip r:embed="rId2"/>
          <a:stretch>
            <a:fillRect/>
          </a:stretch>
        </p:blipFill>
        <p:spPr>
          <a:xfrm>
            <a:off x="409358" y="4974288"/>
            <a:ext cx="3362413" cy="1664450"/>
          </a:xfrm>
          <a:prstGeom prst="rect">
            <a:avLst/>
          </a:prstGeom>
        </p:spPr>
      </p:pic>
      <p:pic>
        <p:nvPicPr>
          <p:cNvPr id="7" name="圖片 6">
            <a:extLst>
              <a:ext uri="{FF2B5EF4-FFF2-40B4-BE49-F238E27FC236}">
                <a16:creationId xmlns:a16="http://schemas.microsoft.com/office/drawing/2014/main" id="{5287C069-9459-C79F-DADA-EDE7614AD62F}"/>
              </a:ext>
            </a:extLst>
          </p:cNvPr>
          <p:cNvPicPr>
            <a:picLocks noChangeAspect="1"/>
          </p:cNvPicPr>
          <p:nvPr/>
        </p:nvPicPr>
        <p:blipFill>
          <a:blip r:embed="rId3"/>
          <a:stretch>
            <a:fillRect/>
          </a:stretch>
        </p:blipFill>
        <p:spPr>
          <a:xfrm>
            <a:off x="210772" y="1423496"/>
            <a:ext cx="5942910" cy="3473739"/>
          </a:xfrm>
          <a:prstGeom prst="rect">
            <a:avLst/>
          </a:prstGeom>
        </p:spPr>
      </p:pic>
      <p:pic>
        <p:nvPicPr>
          <p:cNvPr id="6" name="圖片 5">
            <a:extLst>
              <a:ext uri="{FF2B5EF4-FFF2-40B4-BE49-F238E27FC236}">
                <a16:creationId xmlns:a16="http://schemas.microsoft.com/office/drawing/2014/main" id="{6740B0F5-4FC8-EC52-E5EA-4A5B1918A802}"/>
              </a:ext>
            </a:extLst>
          </p:cNvPr>
          <p:cNvPicPr>
            <a:picLocks noChangeAspect="1"/>
          </p:cNvPicPr>
          <p:nvPr/>
        </p:nvPicPr>
        <p:blipFill>
          <a:blip r:embed="rId4"/>
          <a:stretch>
            <a:fillRect/>
          </a:stretch>
        </p:blipFill>
        <p:spPr>
          <a:xfrm>
            <a:off x="3677691" y="3173723"/>
            <a:ext cx="3671837" cy="3524077"/>
          </a:xfrm>
          <a:prstGeom prst="rect">
            <a:avLst/>
          </a:prstGeom>
        </p:spPr>
      </p:pic>
      <p:pic>
        <p:nvPicPr>
          <p:cNvPr id="11" name="圖片 10">
            <a:extLst>
              <a:ext uri="{FF2B5EF4-FFF2-40B4-BE49-F238E27FC236}">
                <a16:creationId xmlns:a16="http://schemas.microsoft.com/office/drawing/2014/main" id="{E5F918CA-A65F-B5CF-24E5-D6EA176826D7}"/>
              </a:ext>
            </a:extLst>
          </p:cNvPr>
          <p:cNvPicPr>
            <a:picLocks noChangeAspect="1"/>
          </p:cNvPicPr>
          <p:nvPr/>
        </p:nvPicPr>
        <p:blipFill>
          <a:blip r:embed="rId5"/>
          <a:stretch>
            <a:fillRect/>
          </a:stretch>
        </p:blipFill>
        <p:spPr>
          <a:xfrm>
            <a:off x="7255448" y="4425593"/>
            <a:ext cx="4358529" cy="1380920"/>
          </a:xfrm>
          <a:prstGeom prst="rect">
            <a:avLst/>
          </a:prstGeom>
        </p:spPr>
      </p:pic>
      <p:pic>
        <p:nvPicPr>
          <p:cNvPr id="13" name="圖片 12">
            <a:extLst>
              <a:ext uri="{FF2B5EF4-FFF2-40B4-BE49-F238E27FC236}">
                <a16:creationId xmlns:a16="http://schemas.microsoft.com/office/drawing/2014/main" id="{B49A47A4-BDD7-C1D4-FA74-334E87A83ED5}"/>
              </a:ext>
            </a:extLst>
          </p:cNvPr>
          <p:cNvPicPr>
            <a:picLocks noChangeAspect="1"/>
          </p:cNvPicPr>
          <p:nvPr/>
        </p:nvPicPr>
        <p:blipFill>
          <a:blip r:embed="rId6"/>
          <a:stretch>
            <a:fillRect/>
          </a:stretch>
        </p:blipFill>
        <p:spPr>
          <a:xfrm>
            <a:off x="6243304" y="214204"/>
            <a:ext cx="5688224" cy="3954297"/>
          </a:xfrm>
          <a:prstGeom prst="rect">
            <a:avLst/>
          </a:prstGeom>
        </p:spPr>
      </p:pic>
      <p:pic>
        <p:nvPicPr>
          <p:cNvPr id="5" name="內容版面配置區 4">
            <a:extLst>
              <a:ext uri="{FF2B5EF4-FFF2-40B4-BE49-F238E27FC236}">
                <a16:creationId xmlns:a16="http://schemas.microsoft.com/office/drawing/2014/main" id="{D3B63FD5-3699-F7F9-DDB6-32D9A43F7FB1}"/>
              </a:ext>
            </a:extLst>
          </p:cNvPr>
          <p:cNvPicPr>
            <a:picLocks noGrp="1" noChangeAspect="1"/>
          </p:cNvPicPr>
          <p:nvPr>
            <p:ph idx="1"/>
          </p:nvPr>
        </p:nvPicPr>
        <p:blipFill>
          <a:blip r:embed="rId7"/>
          <a:stretch>
            <a:fillRect/>
          </a:stretch>
        </p:blipFill>
        <p:spPr>
          <a:xfrm>
            <a:off x="2541784" y="1466127"/>
            <a:ext cx="2687269" cy="483483"/>
          </a:xfrm>
        </p:spPr>
      </p:pic>
    </p:spTree>
    <p:extLst>
      <p:ext uri="{BB962C8B-B14F-4D97-AF65-F5344CB8AC3E}">
        <p14:creationId xmlns:p14="http://schemas.microsoft.com/office/powerpoint/2010/main" val="1353511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A423549-60D4-7930-16AE-F47FAF967355}"/>
              </a:ext>
            </a:extLst>
          </p:cNvPr>
          <p:cNvSpPr>
            <a:spLocks noGrp="1"/>
          </p:cNvSpPr>
          <p:nvPr>
            <p:ph type="title"/>
          </p:nvPr>
        </p:nvSpPr>
        <p:spPr>
          <a:xfrm>
            <a:off x="913795" y="202242"/>
            <a:ext cx="10353762" cy="970450"/>
          </a:xfrm>
        </p:spPr>
        <p:txBody>
          <a:bodyPr>
            <a:noAutofit/>
          </a:bodyPr>
          <a:lstStyle/>
          <a:p>
            <a:pPr algn="l"/>
            <a:r>
              <a:rPr lang="zh-TW" altLang="en-US" sz="6000" dirty="0"/>
              <a:t>相關圖片</a:t>
            </a:r>
          </a:p>
        </p:txBody>
      </p:sp>
      <p:sp>
        <p:nvSpPr>
          <p:cNvPr id="4" name="內容版面配置區 3">
            <a:extLst>
              <a:ext uri="{FF2B5EF4-FFF2-40B4-BE49-F238E27FC236}">
                <a16:creationId xmlns:a16="http://schemas.microsoft.com/office/drawing/2014/main" id="{8A747A46-D0F4-260C-6983-1DCA7AD4C5AF}"/>
              </a:ext>
            </a:extLst>
          </p:cNvPr>
          <p:cNvSpPr>
            <a:spLocks noGrp="1"/>
          </p:cNvSpPr>
          <p:nvPr>
            <p:ph idx="1"/>
          </p:nvPr>
        </p:nvSpPr>
        <p:spPr/>
        <p:txBody>
          <a:bodyPr/>
          <a:lstStyle/>
          <a:p>
            <a:endParaRPr lang="zh-TW" altLang="en-US" dirty="0"/>
          </a:p>
        </p:txBody>
      </p:sp>
      <p:pic>
        <p:nvPicPr>
          <p:cNvPr id="7" name="圖片 6">
            <a:extLst>
              <a:ext uri="{FF2B5EF4-FFF2-40B4-BE49-F238E27FC236}">
                <a16:creationId xmlns:a16="http://schemas.microsoft.com/office/drawing/2014/main" id="{ACD11339-6E90-3D8F-1C0E-67CF7EF04EBA}"/>
              </a:ext>
            </a:extLst>
          </p:cNvPr>
          <p:cNvPicPr>
            <a:picLocks noChangeAspect="1"/>
          </p:cNvPicPr>
          <p:nvPr/>
        </p:nvPicPr>
        <p:blipFill>
          <a:blip r:embed="rId3"/>
          <a:stretch>
            <a:fillRect/>
          </a:stretch>
        </p:blipFill>
        <p:spPr>
          <a:xfrm>
            <a:off x="113759" y="1066800"/>
            <a:ext cx="5992889" cy="5756528"/>
          </a:xfrm>
          <a:prstGeom prst="rect">
            <a:avLst/>
          </a:prstGeom>
        </p:spPr>
      </p:pic>
      <p:pic>
        <p:nvPicPr>
          <p:cNvPr id="5" name="圖片 4">
            <a:extLst>
              <a:ext uri="{FF2B5EF4-FFF2-40B4-BE49-F238E27FC236}">
                <a16:creationId xmlns:a16="http://schemas.microsoft.com/office/drawing/2014/main" id="{492DD7AA-2DC0-EC52-A06A-59A9E82DE24F}"/>
              </a:ext>
            </a:extLst>
          </p:cNvPr>
          <p:cNvPicPr>
            <a:picLocks noChangeAspect="1"/>
          </p:cNvPicPr>
          <p:nvPr/>
        </p:nvPicPr>
        <p:blipFill>
          <a:blip r:embed="rId4"/>
          <a:stretch>
            <a:fillRect/>
          </a:stretch>
        </p:blipFill>
        <p:spPr>
          <a:xfrm>
            <a:off x="6090676" y="1732449"/>
            <a:ext cx="6126935" cy="5077121"/>
          </a:xfrm>
          <a:prstGeom prst="rect">
            <a:avLst/>
          </a:prstGeom>
        </p:spPr>
      </p:pic>
    </p:spTree>
    <p:extLst>
      <p:ext uri="{BB962C8B-B14F-4D97-AF65-F5344CB8AC3E}">
        <p14:creationId xmlns:p14="http://schemas.microsoft.com/office/powerpoint/2010/main" val="16715253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7A32AAE-1D97-FA46-A265-8397B9813A19}"/>
              </a:ext>
            </a:extLst>
          </p:cNvPr>
          <p:cNvSpPr>
            <a:spLocks noGrp="1"/>
          </p:cNvSpPr>
          <p:nvPr>
            <p:ph type="title"/>
          </p:nvPr>
        </p:nvSpPr>
        <p:spPr/>
        <p:txBody>
          <a:bodyPr>
            <a:noAutofit/>
          </a:bodyPr>
          <a:lstStyle/>
          <a:p>
            <a:pPr algn="l"/>
            <a:r>
              <a:rPr lang="zh-TW" altLang="en-US" sz="6000" dirty="0"/>
              <a:t>相關圖片</a:t>
            </a:r>
          </a:p>
        </p:txBody>
      </p:sp>
      <p:pic>
        <p:nvPicPr>
          <p:cNvPr id="5" name="內容版面配置區 4">
            <a:extLst>
              <a:ext uri="{FF2B5EF4-FFF2-40B4-BE49-F238E27FC236}">
                <a16:creationId xmlns:a16="http://schemas.microsoft.com/office/drawing/2014/main" id="{D58BF620-D079-DFA3-1EF8-05A78F9B2E78}"/>
              </a:ext>
            </a:extLst>
          </p:cNvPr>
          <p:cNvPicPr>
            <a:picLocks noGrp="1" noChangeAspect="1"/>
          </p:cNvPicPr>
          <p:nvPr>
            <p:ph idx="1"/>
          </p:nvPr>
        </p:nvPicPr>
        <p:blipFill>
          <a:blip r:embed="rId2"/>
          <a:stretch>
            <a:fillRect/>
          </a:stretch>
        </p:blipFill>
        <p:spPr>
          <a:xfrm>
            <a:off x="6993069" y="2675697"/>
            <a:ext cx="4634588" cy="4104568"/>
          </a:xfrm>
        </p:spPr>
      </p:pic>
      <p:pic>
        <p:nvPicPr>
          <p:cNvPr id="4" name="圖片 3">
            <a:extLst>
              <a:ext uri="{FF2B5EF4-FFF2-40B4-BE49-F238E27FC236}">
                <a16:creationId xmlns:a16="http://schemas.microsoft.com/office/drawing/2014/main" id="{83D2967F-37ED-C075-1F4C-5BFB2C5B7D4A}"/>
              </a:ext>
            </a:extLst>
          </p:cNvPr>
          <p:cNvPicPr>
            <a:picLocks noChangeAspect="1"/>
          </p:cNvPicPr>
          <p:nvPr/>
        </p:nvPicPr>
        <p:blipFill>
          <a:blip r:embed="rId3"/>
          <a:stretch>
            <a:fillRect/>
          </a:stretch>
        </p:blipFill>
        <p:spPr>
          <a:xfrm>
            <a:off x="128577" y="1633393"/>
            <a:ext cx="6773220" cy="4648849"/>
          </a:xfrm>
          <a:prstGeom prst="rect">
            <a:avLst/>
          </a:prstGeom>
        </p:spPr>
      </p:pic>
      <p:pic>
        <p:nvPicPr>
          <p:cNvPr id="9" name="圖片 8">
            <a:extLst>
              <a:ext uri="{FF2B5EF4-FFF2-40B4-BE49-F238E27FC236}">
                <a16:creationId xmlns:a16="http://schemas.microsoft.com/office/drawing/2014/main" id="{DFCBDFEE-BB9A-D52D-5C81-D10DEF2B52B7}"/>
              </a:ext>
            </a:extLst>
          </p:cNvPr>
          <p:cNvPicPr>
            <a:picLocks noChangeAspect="1"/>
          </p:cNvPicPr>
          <p:nvPr/>
        </p:nvPicPr>
        <p:blipFill>
          <a:blip r:embed="rId4"/>
          <a:stretch>
            <a:fillRect/>
          </a:stretch>
        </p:blipFill>
        <p:spPr>
          <a:xfrm>
            <a:off x="4677428" y="1014182"/>
            <a:ext cx="2181529" cy="1238423"/>
          </a:xfrm>
          <a:prstGeom prst="rect">
            <a:avLst/>
          </a:prstGeom>
        </p:spPr>
      </p:pic>
      <p:pic>
        <p:nvPicPr>
          <p:cNvPr id="6" name="圖片 5">
            <a:extLst>
              <a:ext uri="{FF2B5EF4-FFF2-40B4-BE49-F238E27FC236}">
                <a16:creationId xmlns:a16="http://schemas.microsoft.com/office/drawing/2014/main" id="{EE86D3B7-6AE6-1E66-D90E-ADDFE2DCE0C4}"/>
              </a:ext>
            </a:extLst>
          </p:cNvPr>
          <p:cNvPicPr>
            <a:picLocks noChangeAspect="1"/>
          </p:cNvPicPr>
          <p:nvPr/>
        </p:nvPicPr>
        <p:blipFill>
          <a:blip r:embed="rId5"/>
          <a:stretch>
            <a:fillRect/>
          </a:stretch>
        </p:blipFill>
        <p:spPr>
          <a:xfrm>
            <a:off x="6901797" y="290284"/>
            <a:ext cx="4022235" cy="2311926"/>
          </a:xfrm>
          <a:prstGeom prst="rect">
            <a:avLst/>
          </a:prstGeom>
        </p:spPr>
      </p:pic>
    </p:spTree>
    <p:extLst>
      <p:ext uri="{BB962C8B-B14F-4D97-AF65-F5344CB8AC3E}">
        <p14:creationId xmlns:p14="http://schemas.microsoft.com/office/powerpoint/2010/main" val="15497530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1C026FF-23F9-296B-E407-070202880991}"/>
              </a:ext>
            </a:extLst>
          </p:cNvPr>
          <p:cNvSpPr>
            <a:spLocks noGrp="1"/>
          </p:cNvSpPr>
          <p:nvPr>
            <p:ph type="title"/>
          </p:nvPr>
        </p:nvSpPr>
        <p:spPr>
          <a:xfrm>
            <a:off x="902207" y="159342"/>
            <a:ext cx="10353762" cy="970450"/>
          </a:xfrm>
        </p:spPr>
        <p:txBody>
          <a:bodyPr>
            <a:noAutofit/>
          </a:bodyPr>
          <a:lstStyle/>
          <a:p>
            <a:pPr algn="l"/>
            <a:r>
              <a:rPr lang="zh-TW" altLang="en-US" sz="6000" dirty="0"/>
              <a:t>檔案功能</a:t>
            </a:r>
          </a:p>
        </p:txBody>
      </p:sp>
      <p:graphicFrame>
        <p:nvGraphicFramePr>
          <p:cNvPr id="4" name="內容版面配置區 3">
            <a:extLst>
              <a:ext uri="{FF2B5EF4-FFF2-40B4-BE49-F238E27FC236}">
                <a16:creationId xmlns:a16="http://schemas.microsoft.com/office/drawing/2014/main" id="{88AA35EC-E326-32FF-6D4F-F39CC752B0C4}"/>
              </a:ext>
            </a:extLst>
          </p:cNvPr>
          <p:cNvGraphicFramePr>
            <a:graphicFrameLocks noGrp="1"/>
          </p:cNvGraphicFramePr>
          <p:nvPr>
            <p:ph idx="1"/>
            <p:extLst>
              <p:ext uri="{D42A27DB-BD31-4B8C-83A1-F6EECF244321}">
                <p14:modId xmlns:p14="http://schemas.microsoft.com/office/powerpoint/2010/main" val="107184129"/>
              </p:ext>
            </p:extLst>
          </p:nvPr>
        </p:nvGraphicFramePr>
        <p:xfrm>
          <a:off x="587175" y="1129792"/>
          <a:ext cx="11017649" cy="5557520"/>
        </p:xfrm>
        <a:graphic>
          <a:graphicData uri="http://schemas.openxmlformats.org/drawingml/2006/table">
            <a:tbl>
              <a:tblPr bandRow="1">
                <a:tableStyleId>{D113A9D2-9D6B-4929-AA2D-F23B5EE8CBE7}</a:tableStyleId>
              </a:tblPr>
              <a:tblGrid>
                <a:gridCol w="4029022">
                  <a:extLst>
                    <a:ext uri="{9D8B030D-6E8A-4147-A177-3AD203B41FA5}">
                      <a16:colId xmlns:a16="http://schemas.microsoft.com/office/drawing/2014/main" val="2719942436"/>
                    </a:ext>
                  </a:extLst>
                </a:gridCol>
                <a:gridCol w="6988627">
                  <a:extLst>
                    <a:ext uri="{9D8B030D-6E8A-4147-A177-3AD203B41FA5}">
                      <a16:colId xmlns:a16="http://schemas.microsoft.com/office/drawing/2014/main" val="3329184695"/>
                    </a:ext>
                  </a:extLst>
                </a:gridCol>
              </a:tblGrid>
              <a:tr h="370840">
                <a:tc>
                  <a:txBody>
                    <a:bodyPr/>
                    <a:lstStyle/>
                    <a:p>
                      <a:r>
                        <a:rPr lang="en-US" altLang="zh-TW" b="1" dirty="0" err="1">
                          <a:solidFill>
                            <a:schemeClr val="bg1"/>
                          </a:solidFill>
                        </a:rPr>
                        <a:t>AVL_Tree</a:t>
                      </a:r>
                      <a:endParaRPr lang="zh-TW" altLang="en-US" b="1" dirty="0">
                        <a:solidFill>
                          <a:schemeClr val="bg1"/>
                        </a:solidFill>
                      </a:endParaRPr>
                    </a:p>
                  </a:txBody>
                  <a:tcPr/>
                </a:tc>
                <a:tc>
                  <a:txBody>
                    <a:bodyPr/>
                    <a:lstStyle/>
                    <a:p>
                      <a:r>
                        <a:rPr lang="zh-TW" altLang="en-US" sz="1800" b="0" kern="1200" dirty="0">
                          <a:solidFill>
                            <a:schemeClr val="tx1"/>
                          </a:solidFill>
                        </a:rPr>
                        <a:t>標準二元樹</a:t>
                      </a:r>
                      <a:endParaRPr lang="zh-TW" altLang="en-US" sz="1800" b="0" kern="1200" dirty="0">
                        <a:solidFill>
                          <a:schemeClr val="tx1"/>
                        </a:solidFill>
                        <a:latin typeface="+mn-lt"/>
                        <a:ea typeface="+mn-ea"/>
                        <a:cs typeface="+mn-cs"/>
                      </a:endParaRPr>
                    </a:p>
                  </a:txBody>
                  <a:tcPr/>
                </a:tc>
                <a:extLst>
                  <a:ext uri="{0D108BD9-81ED-4DB2-BD59-A6C34878D82A}">
                    <a16:rowId xmlns:a16="http://schemas.microsoft.com/office/drawing/2014/main" val="73706382"/>
                  </a:ext>
                </a:extLst>
              </a:tr>
              <a:tr h="370840">
                <a:tc>
                  <a:txBody>
                    <a:bodyPr/>
                    <a:lstStyle/>
                    <a:p>
                      <a:r>
                        <a:rPr lang="en-US" altLang="zh-TW" sz="1800" b="1" kern="1200" dirty="0">
                          <a:solidFill>
                            <a:schemeClr val="dk1"/>
                          </a:solidFill>
                        </a:rPr>
                        <a:t>Tree_2_3</a:t>
                      </a:r>
                      <a:endParaRPr lang="zh-TW" altLang="en-US" sz="1800" b="1" kern="1200" dirty="0">
                        <a:solidFill>
                          <a:schemeClr val="dk1"/>
                        </a:solidFill>
                        <a:latin typeface="+mn-lt"/>
                        <a:ea typeface="+mn-ea"/>
                        <a:cs typeface="+mn-cs"/>
                      </a:endParaRPr>
                    </a:p>
                  </a:txBody>
                  <a:tcPr/>
                </a:tc>
                <a:tc>
                  <a:txBody>
                    <a:bodyPr/>
                    <a:lstStyle/>
                    <a:p>
                      <a:pPr marL="0" algn="l" defTabSz="457200" rtl="0" eaLnBrk="1" latinLnBrk="0" hangingPunct="1"/>
                      <a:r>
                        <a:rPr lang="en-US" altLang="zh-TW" sz="1800" b="0" kern="1200" dirty="0">
                          <a:solidFill>
                            <a:schemeClr val="tx1"/>
                          </a:solidFill>
                        </a:rPr>
                        <a:t>2-3</a:t>
                      </a:r>
                      <a:r>
                        <a:rPr lang="zh-TW" altLang="en-US" sz="1800" b="0" kern="1200" dirty="0">
                          <a:solidFill>
                            <a:schemeClr val="tx1"/>
                          </a:solidFill>
                        </a:rPr>
                        <a:t>樹</a:t>
                      </a:r>
                      <a:endParaRPr lang="zh-TW" altLang="en-US" sz="1800" b="0" kern="1200" dirty="0">
                        <a:solidFill>
                          <a:schemeClr val="tx1"/>
                        </a:solidFill>
                        <a:latin typeface="+mn-lt"/>
                        <a:ea typeface="+mn-ea"/>
                        <a:cs typeface="+mn-cs"/>
                      </a:endParaRPr>
                    </a:p>
                  </a:txBody>
                  <a:tcPr/>
                </a:tc>
                <a:extLst>
                  <a:ext uri="{0D108BD9-81ED-4DB2-BD59-A6C34878D82A}">
                    <a16:rowId xmlns:a16="http://schemas.microsoft.com/office/drawing/2014/main" val="1069241744"/>
                  </a:ext>
                </a:extLst>
              </a:tr>
              <a:tr h="370840">
                <a:tc>
                  <a:txBody>
                    <a:bodyPr/>
                    <a:lstStyle/>
                    <a:p>
                      <a:r>
                        <a:rPr lang="en-US" altLang="zh-TW" sz="1800" b="1" kern="1200" dirty="0">
                          <a:solidFill>
                            <a:schemeClr val="dk1"/>
                          </a:solidFill>
                        </a:rPr>
                        <a:t>main</a:t>
                      </a:r>
                      <a:endParaRPr lang="zh-TW" altLang="en-US" sz="1800" b="1" kern="1200" dirty="0">
                        <a:solidFill>
                          <a:schemeClr val="dk1"/>
                        </a:solidFill>
                        <a:latin typeface="+mn-lt"/>
                        <a:ea typeface="+mn-ea"/>
                        <a:cs typeface="+mn-cs"/>
                      </a:endParaRPr>
                    </a:p>
                  </a:txBody>
                  <a:tcPr/>
                </a:tc>
                <a:tc>
                  <a:txBody>
                    <a:bodyPr/>
                    <a:lstStyle/>
                    <a:p>
                      <a:r>
                        <a:rPr lang="zh-TW" altLang="en-US" dirty="0"/>
                        <a:t>主程式，負責呼叫各種函式</a:t>
                      </a:r>
                    </a:p>
                  </a:txBody>
                  <a:tcPr/>
                </a:tc>
                <a:extLst>
                  <a:ext uri="{0D108BD9-81ED-4DB2-BD59-A6C34878D82A}">
                    <a16:rowId xmlns:a16="http://schemas.microsoft.com/office/drawing/2014/main" val="3687836373"/>
                  </a:ext>
                </a:extLst>
              </a:tr>
              <a:tr h="370840">
                <a:tc>
                  <a:txBody>
                    <a:bodyPr/>
                    <a:lstStyle/>
                    <a:p>
                      <a:r>
                        <a:rPr lang="en-US" altLang="zh-TW" sz="1800" b="1" kern="1200" dirty="0">
                          <a:solidFill>
                            <a:schemeClr val="dk1"/>
                          </a:solidFill>
                        </a:rPr>
                        <a:t>patient</a:t>
                      </a:r>
                      <a:endParaRPr lang="zh-TW" altLang="en-US" sz="1800" b="1" kern="1200" dirty="0">
                        <a:solidFill>
                          <a:schemeClr val="dk1"/>
                        </a:solidFill>
                        <a:latin typeface="+mn-lt"/>
                        <a:ea typeface="+mn-ea"/>
                        <a:cs typeface="+mn-cs"/>
                      </a:endParaRPr>
                    </a:p>
                  </a:txBody>
                  <a:tcPr/>
                </a:tc>
                <a:tc>
                  <a:txBody>
                    <a:bodyPr/>
                    <a:lstStyle/>
                    <a:p>
                      <a:r>
                        <a:rPr lang="zh-TW" altLang="en-US" dirty="0"/>
                        <a:t>包含新增、修改、刪除、查詢、檢視等函式</a:t>
                      </a:r>
                    </a:p>
                  </a:txBody>
                  <a:tcPr/>
                </a:tc>
                <a:extLst>
                  <a:ext uri="{0D108BD9-81ED-4DB2-BD59-A6C34878D82A}">
                    <a16:rowId xmlns:a16="http://schemas.microsoft.com/office/drawing/2014/main" val="2751088435"/>
                  </a:ext>
                </a:extLst>
              </a:tr>
              <a:tr h="370840">
                <a:tc>
                  <a:txBody>
                    <a:bodyPr/>
                    <a:lstStyle/>
                    <a:p>
                      <a:r>
                        <a:rPr lang="en-US" altLang="zh-TW" sz="1800" b="1" kern="1200" dirty="0" err="1">
                          <a:solidFill>
                            <a:schemeClr val="dk1"/>
                          </a:solidFill>
                        </a:rPr>
                        <a:t>patient_add_tk</a:t>
                      </a:r>
                      <a:endParaRPr lang="en-US" altLang="zh-TW" sz="1800" b="1" kern="1200" dirty="0">
                        <a:solidFill>
                          <a:schemeClr val="dk1"/>
                        </a:solidFill>
                        <a:latin typeface="+mn-lt"/>
                        <a:ea typeface="+mn-ea"/>
                        <a:cs typeface="+mn-cs"/>
                      </a:endParaRPr>
                    </a:p>
                  </a:txBody>
                  <a:tcPr/>
                </a:tc>
                <a:tc>
                  <a:txBody>
                    <a:bodyPr/>
                    <a:lstStyle/>
                    <a:p>
                      <a:r>
                        <a:rPr lang="zh-TW" altLang="en-US" dirty="0"/>
                        <a:t>新增病患相關的視窗架構</a:t>
                      </a:r>
                    </a:p>
                  </a:txBody>
                  <a:tcPr/>
                </a:tc>
                <a:extLst>
                  <a:ext uri="{0D108BD9-81ED-4DB2-BD59-A6C34878D82A}">
                    <a16:rowId xmlns:a16="http://schemas.microsoft.com/office/drawing/2014/main" val="595315853"/>
                  </a:ext>
                </a:extLst>
              </a:tr>
              <a:tr h="370840">
                <a:tc>
                  <a:txBody>
                    <a:bodyPr/>
                    <a:lstStyle/>
                    <a:p>
                      <a:r>
                        <a:rPr lang="en-US" altLang="zh-TW" sz="1800" b="1" kern="1200" dirty="0" err="1">
                          <a:solidFill>
                            <a:schemeClr val="dk1"/>
                          </a:solidFill>
                        </a:rPr>
                        <a:t>patient_data_txt</a:t>
                      </a:r>
                      <a:endParaRPr lang="zh-TW" altLang="en-US" sz="1800" b="1" kern="1200" dirty="0">
                        <a:solidFill>
                          <a:schemeClr val="dk1"/>
                        </a:solidFill>
                        <a:latin typeface="+mn-lt"/>
                        <a:ea typeface="+mn-ea"/>
                        <a:cs typeface="+mn-cs"/>
                      </a:endParaRPr>
                    </a:p>
                  </a:txBody>
                  <a:tcPr/>
                </a:tc>
                <a:tc>
                  <a:txBody>
                    <a:bodyPr/>
                    <a:lstStyle/>
                    <a:p>
                      <a:r>
                        <a:rPr lang="zh-TW" altLang="en-US" dirty="0"/>
                        <a:t>病患檔案的讀取與匯出</a:t>
                      </a:r>
                    </a:p>
                  </a:txBody>
                  <a:tcPr/>
                </a:tc>
                <a:extLst>
                  <a:ext uri="{0D108BD9-81ED-4DB2-BD59-A6C34878D82A}">
                    <a16:rowId xmlns:a16="http://schemas.microsoft.com/office/drawing/2014/main" val="1648964473"/>
                  </a:ext>
                </a:extLst>
              </a:tr>
              <a:tr h="370840">
                <a:tc>
                  <a:txBody>
                    <a:bodyPr/>
                    <a:lstStyle/>
                    <a:p>
                      <a:r>
                        <a:rPr lang="en-US" altLang="zh-TW" sz="1800" b="1" kern="1200" dirty="0" err="1">
                          <a:solidFill>
                            <a:schemeClr val="dk1"/>
                          </a:solidFill>
                        </a:rPr>
                        <a:t>patient_mod_tk</a:t>
                      </a:r>
                      <a:endParaRPr lang="zh-TW" altLang="en-US" sz="1800" b="1" kern="1200" dirty="0">
                        <a:solidFill>
                          <a:schemeClr val="dk1"/>
                        </a:solidFill>
                        <a:latin typeface="+mn-lt"/>
                        <a:ea typeface="+mn-ea"/>
                        <a:cs typeface="+mn-cs"/>
                      </a:endParaRPr>
                    </a:p>
                  </a:txBody>
                  <a:tcPr/>
                </a:tc>
                <a:tc>
                  <a:txBody>
                    <a:bodyPr/>
                    <a:lstStyle/>
                    <a:p>
                      <a:r>
                        <a:rPr lang="zh-TW" altLang="en-US" dirty="0"/>
                        <a:t>修改年齡相關的視窗架構</a:t>
                      </a:r>
                    </a:p>
                  </a:txBody>
                  <a:tcPr/>
                </a:tc>
                <a:extLst>
                  <a:ext uri="{0D108BD9-81ED-4DB2-BD59-A6C34878D82A}">
                    <a16:rowId xmlns:a16="http://schemas.microsoft.com/office/drawing/2014/main" val="2245653214"/>
                  </a:ext>
                </a:extLst>
              </a:tr>
              <a:tr h="0">
                <a:tc>
                  <a:txBody>
                    <a:bodyPr/>
                    <a:lstStyle/>
                    <a:p>
                      <a:r>
                        <a:rPr lang="en-US" altLang="zh-TW" sz="1800" b="1" kern="1200" dirty="0" err="1">
                          <a:solidFill>
                            <a:schemeClr val="dk1"/>
                          </a:solidFill>
                        </a:rPr>
                        <a:t>patient_del_tk</a:t>
                      </a:r>
                      <a:endParaRPr lang="zh-TW" altLang="en-US" sz="1800" b="1" kern="1200" dirty="0">
                        <a:solidFill>
                          <a:schemeClr val="dk1"/>
                        </a:solidFill>
                        <a:latin typeface="+mn-lt"/>
                        <a:ea typeface="+mn-ea"/>
                        <a:cs typeface="+mn-cs"/>
                      </a:endParaRPr>
                    </a:p>
                  </a:txBody>
                  <a:tcPr/>
                </a:tc>
                <a:tc>
                  <a:txBody>
                    <a:bodyPr/>
                    <a:lstStyle/>
                    <a:p>
                      <a:r>
                        <a:rPr lang="zh-TW" altLang="en-US" dirty="0"/>
                        <a:t>刪除病患相關的視窗架構</a:t>
                      </a:r>
                    </a:p>
                  </a:txBody>
                  <a:tcPr/>
                </a:tc>
                <a:extLst>
                  <a:ext uri="{0D108BD9-81ED-4DB2-BD59-A6C34878D82A}">
                    <a16:rowId xmlns:a16="http://schemas.microsoft.com/office/drawing/2014/main" val="2491364815"/>
                  </a:ext>
                </a:extLst>
              </a:tr>
              <a:tr h="370840">
                <a:tc>
                  <a:txBody>
                    <a:bodyPr/>
                    <a:lstStyle/>
                    <a:p>
                      <a:r>
                        <a:rPr lang="en-US" altLang="zh-TW" sz="1800" b="1" kern="1200" dirty="0" err="1">
                          <a:solidFill>
                            <a:schemeClr val="dk1"/>
                          </a:solidFill>
                        </a:rPr>
                        <a:t>patient_searchName_tk</a:t>
                      </a:r>
                      <a:endParaRPr lang="zh-TW" altLang="en-US" sz="1800" b="1" kern="1200" dirty="0">
                        <a:solidFill>
                          <a:schemeClr val="dk1"/>
                        </a:solidFill>
                        <a:latin typeface="+mn-lt"/>
                        <a:ea typeface="+mn-ea"/>
                        <a:cs typeface="+mn-cs"/>
                      </a:endParaRPr>
                    </a:p>
                  </a:txBody>
                  <a:tcPr/>
                </a:tc>
                <a:tc>
                  <a:txBody>
                    <a:bodyPr/>
                    <a:lstStyle/>
                    <a:p>
                      <a:r>
                        <a:rPr lang="zh-TW" altLang="en-US" dirty="0"/>
                        <a:t>用姓名搜尋病患的視窗架構</a:t>
                      </a:r>
                    </a:p>
                  </a:txBody>
                  <a:tcPr/>
                </a:tc>
                <a:extLst>
                  <a:ext uri="{0D108BD9-81ED-4DB2-BD59-A6C34878D82A}">
                    <a16:rowId xmlns:a16="http://schemas.microsoft.com/office/drawing/2014/main" val="289304984"/>
                  </a:ext>
                </a:extLst>
              </a:tr>
              <a:tr h="370840">
                <a:tc>
                  <a:txBody>
                    <a:bodyPr/>
                    <a:lstStyle/>
                    <a:p>
                      <a:r>
                        <a:rPr lang="en-US" altLang="zh-TW" sz="1800" b="1" kern="1200" dirty="0" err="1">
                          <a:solidFill>
                            <a:schemeClr val="dk1"/>
                          </a:solidFill>
                        </a:rPr>
                        <a:t>patient_notes_list</a:t>
                      </a:r>
                      <a:endParaRPr lang="zh-TW" altLang="en-US" sz="1800" b="1" kern="1200" dirty="0">
                        <a:solidFill>
                          <a:schemeClr val="dk1"/>
                        </a:solidFill>
                        <a:latin typeface="+mn-lt"/>
                        <a:ea typeface="+mn-ea"/>
                        <a:cs typeface="+mn-cs"/>
                      </a:endParaRPr>
                    </a:p>
                  </a:txBody>
                  <a:tcPr/>
                </a:tc>
                <a:tc>
                  <a:txBody>
                    <a:bodyPr/>
                    <a:lstStyle/>
                    <a:p>
                      <a:r>
                        <a:rPr lang="zh-TW" altLang="en-US" dirty="0"/>
                        <a:t>讀取所有資料樹編號，並做成</a:t>
                      </a:r>
                      <a:r>
                        <a:rPr lang="en-US" altLang="zh-TW" dirty="0"/>
                        <a:t>2-3</a:t>
                      </a:r>
                      <a:r>
                        <a:rPr lang="zh-TW" altLang="en-US" dirty="0"/>
                        <a:t>樹</a:t>
                      </a:r>
                    </a:p>
                  </a:txBody>
                  <a:tcPr/>
                </a:tc>
                <a:extLst>
                  <a:ext uri="{0D108BD9-81ED-4DB2-BD59-A6C34878D82A}">
                    <a16:rowId xmlns:a16="http://schemas.microsoft.com/office/drawing/2014/main" val="2314499565"/>
                  </a:ext>
                </a:extLst>
              </a:tr>
              <a:tr h="370840">
                <a:tc>
                  <a:txBody>
                    <a:bodyPr/>
                    <a:lstStyle/>
                    <a:p>
                      <a:r>
                        <a:rPr lang="en-US" altLang="zh-TW" sz="1800" b="1" kern="1200" dirty="0" err="1">
                          <a:solidFill>
                            <a:schemeClr val="dk1"/>
                          </a:solidFill>
                        </a:rPr>
                        <a:t>urgency_level_tk</a:t>
                      </a:r>
                      <a:endParaRPr lang="en-US" altLang="zh-TW" sz="1800" b="1" kern="1200" dirty="0">
                        <a:solidFill>
                          <a:schemeClr val="dk1"/>
                        </a:solidFill>
                        <a:latin typeface="+mn-lt"/>
                        <a:ea typeface="+mn-ea"/>
                        <a:cs typeface="+mn-cs"/>
                      </a:endParaRPr>
                    </a:p>
                  </a:txBody>
                  <a:tcPr/>
                </a:tc>
                <a:tc>
                  <a:txBody>
                    <a:bodyPr/>
                    <a:lstStyle/>
                    <a:p>
                      <a:r>
                        <a:rPr lang="zh-TW" altLang="en-US" dirty="0"/>
                        <a:t>設定緊急程度總層級的視窗架構</a:t>
                      </a:r>
                    </a:p>
                  </a:txBody>
                  <a:tcPr/>
                </a:tc>
                <a:extLst>
                  <a:ext uri="{0D108BD9-81ED-4DB2-BD59-A6C34878D82A}">
                    <a16:rowId xmlns:a16="http://schemas.microsoft.com/office/drawing/2014/main" val="4201005534"/>
                  </a:ext>
                </a:extLst>
              </a:tr>
              <a:tr h="370840">
                <a:tc>
                  <a:txBody>
                    <a:bodyPr/>
                    <a:lstStyle/>
                    <a:p>
                      <a:r>
                        <a:rPr lang="en-US" altLang="zh-TW" sz="1800" b="1" kern="1200" dirty="0" err="1">
                          <a:solidFill>
                            <a:schemeClr val="dk1"/>
                          </a:solidFill>
                        </a:rPr>
                        <a:t>user_data</a:t>
                      </a:r>
                      <a:endParaRPr lang="zh-TW" altLang="en-US" sz="1800" b="1" kern="1200" dirty="0">
                        <a:solidFill>
                          <a:schemeClr val="dk1"/>
                        </a:solidFill>
                        <a:latin typeface="+mn-lt"/>
                        <a:ea typeface="+mn-ea"/>
                        <a:cs typeface="+mn-cs"/>
                      </a:endParaRPr>
                    </a:p>
                  </a:txBody>
                  <a:tcPr/>
                </a:tc>
                <a:tc>
                  <a:txBody>
                    <a:bodyPr/>
                    <a:lstStyle/>
                    <a:p>
                      <a:r>
                        <a:rPr lang="zh-TW" altLang="en-US" dirty="0"/>
                        <a:t>使用者相關，包含讀取與匯出檔案、登入與註冊視窗</a:t>
                      </a:r>
                    </a:p>
                  </a:txBody>
                  <a:tcPr/>
                </a:tc>
                <a:extLst>
                  <a:ext uri="{0D108BD9-81ED-4DB2-BD59-A6C34878D82A}">
                    <a16:rowId xmlns:a16="http://schemas.microsoft.com/office/drawing/2014/main" val="4229614693"/>
                  </a:ext>
                </a:extLst>
              </a:tr>
              <a:tr h="370840">
                <a:tc>
                  <a:txBody>
                    <a:bodyPr/>
                    <a:lstStyle/>
                    <a:p>
                      <a:r>
                        <a:rPr lang="en-US" altLang="zh-TW" sz="1800" b="1" kern="1200" dirty="0" err="1">
                          <a:solidFill>
                            <a:schemeClr val="dk1"/>
                          </a:solidFill>
                        </a:rPr>
                        <a:t>patient_notes_’n</a:t>
                      </a:r>
                      <a:r>
                        <a:rPr lang="en-US" altLang="zh-TW" sz="1800" b="1" kern="1200" dirty="0">
                          <a:solidFill>
                            <a:schemeClr val="dk1"/>
                          </a:solidFill>
                        </a:rPr>
                        <a:t>’ (txt)</a:t>
                      </a:r>
                      <a:endParaRPr lang="zh-TW" altLang="en-US" sz="1800" b="1" kern="1200" dirty="0">
                        <a:solidFill>
                          <a:schemeClr val="dk1"/>
                        </a:solidFill>
                        <a:latin typeface="+mn-lt"/>
                        <a:ea typeface="+mn-ea"/>
                        <a:cs typeface="+mn-cs"/>
                      </a:endParaRPr>
                    </a:p>
                  </a:txBody>
                  <a:tcPr/>
                </a:tc>
                <a:tc>
                  <a:txBody>
                    <a:bodyPr/>
                    <a:lstStyle/>
                    <a:p>
                      <a:r>
                        <a:rPr lang="zh-TW" altLang="en-US" dirty="0"/>
                        <a:t>儲存單一病患資料樹中的資訊</a:t>
                      </a:r>
                    </a:p>
                  </a:txBody>
                  <a:tcPr/>
                </a:tc>
                <a:extLst>
                  <a:ext uri="{0D108BD9-81ED-4DB2-BD59-A6C34878D82A}">
                    <a16:rowId xmlns:a16="http://schemas.microsoft.com/office/drawing/2014/main" val="1921084360"/>
                  </a:ext>
                </a:extLst>
              </a:tr>
              <a:tr h="370840">
                <a:tc>
                  <a:txBody>
                    <a:bodyPr/>
                    <a:lstStyle/>
                    <a:p>
                      <a:r>
                        <a:rPr lang="en-US" altLang="zh-TW" sz="1800" b="1" kern="1200" dirty="0" err="1">
                          <a:solidFill>
                            <a:schemeClr val="dk1"/>
                          </a:solidFill>
                        </a:rPr>
                        <a:t>patients_list</a:t>
                      </a:r>
                      <a:r>
                        <a:rPr lang="en-US" altLang="zh-TW" sz="1800" b="1" kern="1200" dirty="0">
                          <a:solidFill>
                            <a:schemeClr val="dk1"/>
                          </a:solidFill>
                        </a:rPr>
                        <a:t>(txt)</a:t>
                      </a:r>
                      <a:endParaRPr lang="zh-TW" altLang="en-US" sz="1800" b="1" kern="1200" dirty="0">
                        <a:solidFill>
                          <a:schemeClr val="dk1"/>
                        </a:solidFill>
                        <a:latin typeface="+mn-lt"/>
                        <a:ea typeface="+mn-ea"/>
                        <a:cs typeface="+mn-cs"/>
                      </a:endParaRPr>
                    </a:p>
                  </a:txBody>
                  <a:tcPr/>
                </a:tc>
                <a:tc>
                  <a:txBody>
                    <a:bodyPr/>
                    <a:lstStyle/>
                    <a:p>
                      <a:r>
                        <a:rPr lang="zh-TW" altLang="en-US" dirty="0"/>
                        <a:t>儲存所有病患資料樹文件的編號</a:t>
                      </a:r>
                    </a:p>
                  </a:txBody>
                  <a:tcPr/>
                </a:tc>
                <a:extLst>
                  <a:ext uri="{0D108BD9-81ED-4DB2-BD59-A6C34878D82A}">
                    <a16:rowId xmlns:a16="http://schemas.microsoft.com/office/drawing/2014/main" val="965892512"/>
                  </a:ext>
                </a:extLst>
              </a:tr>
              <a:tr h="370840">
                <a:tc>
                  <a:txBody>
                    <a:bodyPr/>
                    <a:lstStyle/>
                    <a:p>
                      <a:r>
                        <a:rPr lang="en-US" altLang="zh-TW" sz="1800" b="1" kern="1200" dirty="0" err="1">
                          <a:solidFill>
                            <a:schemeClr val="dk1"/>
                          </a:solidFill>
                        </a:rPr>
                        <a:t>user_info</a:t>
                      </a:r>
                      <a:r>
                        <a:rPr lang="en-US" altLang="zh-TW" sz="1800" b="1" kern="1200" dirty="0">
                          <a:solidFill>
                            <a:schemeClr val="dk1"/>
                          </a:solidFill>
                        </a:rPr>
                        <a:t>(txt)</a:t>
                      </a:r>
                      <a:endParaRPr lang="zh-TW" altLang="en-US" sz="1800" b="1" kern="1200" dirty="0">
                        <a:solidFill>
                          <a:schemeClr val="dk1"/>
                        </a:solidFill>
                        <a:latin typeface="+mn-lt"/>
                        <a:ea typeface="+mn-ea"/>
                        <a:cs typeface="+mn-cs"/>
                      </a:endParaRPr>
                    </a:p>
                  </a:txBody>
                  <a:tcPr/>
                </a:tc>
                <a:tc>
                  <a:txBody>
                    <a:bodyPr/>
                    <a:lstStyle/>
                    <a:p>
                      <a:r>
                        <a:rPr lang="zh-TW" altLang="en-US" dirty="0"/>
                        <a:t>儲存使用者的帳號與密碼</a:t>
                      </a:r>
                    </a:p>
                  </a:txBody>
                  <a:tcPr/>
                </a:tc>
                <a:extLst>
                  <a:ext uri="{0D108BD9-81ED-4DB2-BD59-A6C34878D82A}">
                    <a16:rowId xmlns:a16="http://schemas.microsoft.com/office/drawing/2014/main" val="234418441"/>
                  </a:ext>
                </a:extLst>
              </a:tr>
            </a:tbl>
          </a:graphicData>
        </a:graphic>
      </p:graphicFrame>
    </p:spTree>
    <p:extLst>
      <p:ext uri="{BB962C8B-B14F-4D97-AF65-F5344CB8AC3E}">
        <p14:creationId xmlns:p14="http://schemas.microsoft.com/office/powerpoint/2010/main" val="328039741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石板">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TM04033929[[fn=石板]]</Template>
  <TotalTime>391</TotalTime>
  <Words>1262</Words>
  <Application>Microsoft Office PowerPoint</Application>
  <PresentationFormat>寬螢幕</PresentationFormat>
  <Paragraphs>122</Paragraphs>
  <Slides>19</Slides>
  <Notes>1</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19</vt:i4>
      </vt:variant>
    </vt:vector>
  </HeadingPairs>
  <TitlesOfParts>
    <vt:vector size="23" baseType="lpstr">
      <vt:lpstr>Calibri</vt:lpstr>
      <vt:lpstr>Calisto MT</vt:lpstr>
      <vt:lpstr>Wingdings 2</vt:lpstr>
      <vt:lpstr>石板</vt:lpstr>
      <vt:lpstr>病患分流系統</vt:lpstr>
      <vt:lpstr>目錄:</vt:lpstr>
      <vt:lpstr>簡介</vt:lpstr>
      <vt:lpstr>系統概述</vt:lpstr>
      <vt:lpstr>登入與註冊</vt:lpstr>
      <vt:lpstr>匯入檔案</vt:lpstr>
      <vt:lpstr>新增</vt:lpstr>
      <vt:lpstr>修改</vt:lpstr>
      <vt:lpstr>刪除</vt:lpstr>
      <vt:lpstr>查詢</vt:lpstr>
      <vt:lpstr>檢視</vt:lpstr>
      <vt:lpstr>資料儲存與匯出</vt:lpstr>
      <vt:lpstr>技術列表_1</vt:lpstr>
      <vt:lpstr>技術列表_2</vt:lpstr>
      <vt:lpstr>技術列表_3</vt:lpstr>
      <vt:lpstr>相關圖片</vt:lpstr>
      <vt:lpstr>相關圖片</vt:lpstr>
      <vt:lpstr>相關圖片</vt:lpstr>
      <vt:lpstr>檔案功能</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eason931234@gmail.com</dc:creator>
  <cp:lastModifiedBy>886938355280</cp:lastModifiedBy>
  <cp:revision>13</cp:revision>
  <dcterms:created xsi:type="dcterms:W3CDTF">2025-01-06T09:09:36Z</dcterms:created>
  <dcterms:modified xsi:type="dcterms:W3CDTF">2025-01-08T10:00:21Z</dcterms:modified>
</cp:coreProperties>
</file>